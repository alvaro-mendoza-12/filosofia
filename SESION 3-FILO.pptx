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72" r:id="rId3"/>
    <p:sldId id="274" r:id="rId4"/>
    <p:sldId id="283" r:id="rId5"/>
    <p:sldId id="458" r:id="rId6"/>
    <p:sldId id="280" r:id="rId7"/>
    <p:sldId id="261" r:id="rId8"/>
    <p:sldId id="285" r:id="rId9"/>
    <p:sldId id="266" r:id="rId10"/>
    <p:sldId id="268" r:id="rId11"/>
    <p:sldId id="267" r:id="rId12"/>
    <p:sldId id="286" r:id="rId13"/>
    <p:sldId id="291" r:id="rId14"/>
    <p:sldId id="265" r:id="rId1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80499-1C23-41C0-BBBB-58779505D20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541D2-8C11-491F-8FDE-AA6B93F8EFD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864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8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664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599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999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6320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294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9EA95-C02A-46A2-92FF-E0F34A1F3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DB19A2-0F74-41C6-AAAB-60F507E25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7A538B-6745-4FF9-BEC7-A38055A0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27EFD-38D2-4C48-B7F8-FF47CCF5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1D1B9D-29BB-4602-B1C1-3FF03EA4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574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F04C6-19C6-4E34-B11B-063C98E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6A255-8E08-4025-87E5-BB85A99D4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EEF012-2942-4A81-BEEB-45409F97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0CF1A-FAB0-46A6-94AA-20A52848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5B3460-9BEF-48AB-85C4-E56FF3E5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329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30603-60B4-483B-9210-352CA30A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0FC4DF-4A66-4528-8C94-A06606370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D98260-07EB-43E0-A3CE-167D68DC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E437F2-39CA-4246-89A4-62D9C877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E34C82-FA6C-4727-A413-49B86FF7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615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41E7F-66EC-4DB3-98E6-72945626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B532C0-4185-44C4-B969-4A925AF22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F08367-828A-4B78-A4B7-FCCAFE44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AE32AF-41A3-45A0-98D2-290E6D77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7C77A-01D0-4F5E-BF23-1E7C289D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41BB65-60D7-413F-88AE-1F36A6F9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42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E9D41-85A3-45A4-BCBC-44FE25F5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4153E9-366F-4563-9848-D4D8057FF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44BB21-FFCF-4A63-BF2D-05D2E4FAE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B38578-81DF-4D60-B899-EA7FA089C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B1C045-2CF7-480C-BD5A-8AD087A51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525C41-5A0E-4AD0-9F29-FB07DF33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63D454-AF0F-4D27-9512-73A4CFEE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5916A7-A70C-4732-B420-31466EB3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169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032C-A6C4-421B-95E7-C49D3B4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DD51DB-491E-4448-84A9-02B5C2B9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EDF3BE-E68E-4542-ABC5-5501A50C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EF0211-1701-4C4F-8055-35C194CD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522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83BC03-3CA2-4203-9838-85B929D9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2CBDF0-D33C-45E1-AB10-25C86D87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AA63E7-EE46-4FFA-AC76-0A6A0A7D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570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02913-0E12-4369-8AB7-8D2CB172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A70240-A5EB-4842-A945-4724F2D38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51248D-0C57-40F9-87C8-A42C8EFBF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17A17E-14EC-4D39-A342-6F5B74AD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5FB0F5-1CF3-4D77-892C-884A8869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6637D5-B633-4E2E-8A64-5EF06B3F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118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DA57-C825-4140-AA61-AAFBFCAF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6E054B-3643-4A0D-9E65-166367A2E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5A6EFD-D3A2-4E6C-937B-3D2CC544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923AF8-E25E-4683-96AE-51657859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5A2F5A-C55C-408A-A50E-5C39470F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04F046-D862-42F8-B57B-9FAE391E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702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E1E74-EF85-40A5-B4F0-C55861F2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40DA13-ECE7-4FC5-8417-49DF16660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5CFA-D7F8-4457-A106-05146FF0D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DCFE2-5B9F-4680-BAB3-DC6C54C2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41CC66-84FC-43F6-89D3-7EB24C3E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829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66FE4B-B8EF-41BE-B830-80325C9AD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71ED2-3CE2-4E2F-900E-06CD31B4F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B593D-8F29-48DF-8160-4AF186DF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0E35FB-BFF0-450F-99BB-9A6B7E72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FCF5CF-A7BE-4C5D-A710-654C32BB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227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818455" y="4348522"/>
            <a:ext cx="7848876" cy="1672766"/>
          </a:xfr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[Nombre del Profesor ]   [ Email]         </a:t>
            </a:r>
          </a:p>
          <a:p>
            <a:r>
              <a:rPr lang="es-ES" dirty="0"/>
              <a:t> 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82"/>
            <a:ext cx="2849033" cy="3474551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647728" y="871297"/>
            <a:ext cx="7848878" cy="2494760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Programa de Estudios]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r>
              <a:rPr lang="es-ES" dirty="0"/>
              <a:t>[Nombre de la Asignatura]</a:t>
            </a:r>
            <a:endParaRPr lang="es-PE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6137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711877" y="3610904"/>
            <a:ext cx="5928660" cy="783462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[Subtitulo de la presentación]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79"/>
            <a:ext cx="2849033" cy="3771045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850589" y="1339399"/>
            <a:ext cx="7848878" cy="103782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[Ingrese el título de la presentación]</a:t>
            </a:r>
            <a:endParaRPr lang="es-PE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3719736" y="4669661"/>
            <a:ext cx="5013996" cy="1154255"/>
          </a:xfrm>
        </p:spPr>
        <p:txBody>
          <a:bodyPr/>
          <a:lstStyle>
            <a:lvl1pPr marL="0" indent="0" algn="l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PE" dirty="0"/>
              <a:t>[Nombre del docente] , </a:t>
            </a:r>
          </a:p>
          <a:p>
            <a:pPr lvl="0"/>
            <a:r>
              <a:rPr lang="es-PE" dirty="0"/>
              <a:t>[ Email docente]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12" hasCustomPrompt="1"/>
          </p:nvPr>
        </p:nvSpPr>
        <p:spPr>
          <a:xfrm>
            <a:off x="9929093" y="3886200"/>
            <a:ext cx="1639522" cy="334887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accent2">
                    <a:lumMod val="95000"/>
                    <a:lumOff val="5000"/>
                  </a:schemeClr>
                </a:solidFill>
                <a:effectLst/>
                <a:latin typeface="+mj-lt"/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s-PE" dirty="0"/>
              <a:t>[Tema/Sesión]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3" hasCustomPrompt="1"/>
          </p:nvPr>
        </p:nvSpPr>
        <p:spPr>
          <a:xfrm>
            <a:off x="9936886" y="4376779"/>
            <a:ext cx="1631728" cy="935038"/>
          </a:xfrm>
        </p:spPr>
        <p:txBody>
          <a:bodyPr/>
          <a:lstStyle>
            <a:lvl1pPr marL="0" indent="0" algn="ctr">
              <a:buNone/>
              <a:defRPr sz="5400" b="1">
                <a:solidFill>
                  <a:schemeClr val="accent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s-ES" dirty="0"/>
              <a:t>[01]</a:t>
            </a:r>
            <a:endParaRPr lang="es-PE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1" name="Rectángulo 10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47230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sarro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[Desarrollo]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46215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trumento de evalu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1487488" y="414801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000" b="1" baseline="0">
                <a:solidFill>
                  <a:srgbClr val="CC3300"/>
                </a:solidFill>
              </a:defRPr>
            </a:lvl1pPr>
          </a:lstStyle>
          <a:p>
            <a:r>
              <a:rPr lang="es-ES" dirty="0"/>
              <a:t>Instrumento de evaluación</a:t>
            </a:r>
            <a:endParaRPr lang="es-PE" dirty="0"/>
          </a:p>
        </p:txBody>
      </p:sp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07749E00-FF35-2DBE-D872-AEF27500C8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8504" y="2142465"/>
            <a:ext cx="10814991" cy="3950831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375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623393" y="2276872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8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[Título de diapositivas tamaño completo]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11671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erre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[Cierre]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58912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feren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745457"/>
            <a:ext cx="10945216" cy="413181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548680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[Referencias]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5C7685-DFFD-0C4B-BAD7-9B1A686A3743}"/>
              </a:ext>
            </a:extLst>
          </p:cNvPr>
          <p:cNvSpPr txBox="1"/>
          <p:nvPr userDrawn="1"/>
        </p:nvSpPr>
        <p:spPr>
          <a:xfrm>
            <a:off x="8688290" y="6551766"/>
            <a:ext cx="1717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050" dirty="0">
                <a:solidFill>
                  <a:schemeClr val="bg1"/>
                </a:solidFill>
              </a:rPr>
              <a:t>M. Tesen</a:t>
            </a:r>
          </a:p>
        </p:txBody>
      </p:sp>
    </p:spTree>
    <p:extLst>
      <p:ext uri="{BB962C8B-B14F-4D97-AF65-F5344CB8AC3E}">
        <p14:creationId xmlns:p14="http://schemas.microsoft.com/office/powerpoint/2010/main" val="3839452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12192000" cy="3933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8" name="Título 4"/>
          <p:cNvSpPr>
            <a:spLocks noGrp="1"/>
          </p:cNvSpPr>
          <p:nvPr>
            <p:ph type="title" hasCustomPrompt="1"/>
          </p:nvPr>
        </p:nvSpPr>
        <p:spPr>
          <a:xfrm>
            <a:off x="507141" y="4112573"/>
            <a:ext cx="11133476" cy="729037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profesor]</a:t>
            </a:r>
            <a:br>
              <a:rPr lang="es-ES" dirty="0"/>
            </a:br>
            <a:r>
              <a:rPr lang="es-ES" dirty="0"/>
              <a:t>Email:  email@usat.edu.pe</a:t>
            </a:r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50" r="76578" b="6951"/>
          <a:stretch/>
        </p:blipFill>
        <p:spPr>
          <a:xfrm>
            <a:off x="0" y="5021127"/>
            <a:ext cx="2855640" cy="15841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96"/>
          <a:stretch/>
        </p:blipFill>
        <p:spPr>
          <a:xfrm>
            <a:off x="4780235" y="1155184"/>
            <a:ext cx="2631530" cy="2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51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sta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10" hasCustomPrompt="1"/>
          </p:nvPr>
        </p:nvSpPr>
        <p:spPr>
          <a:xfrm>
            <a:off x="719668" y="1844675"/>
            <a:ext cx="10776931" cy="410460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 dirty="0"/>
              <a:t>Lista con los temas principales de la presentación. Puede usar esta diapositiva para colocar hipervínculos a cada diapositiva que se corresponde con cada tema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670088" y="611416"/>
            <a:ext cx="8954304" cy="792088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CC3300"/>
                </a:solidFill>
              </a:defRPr>
            </a:lvl1pPr>
          </a:lstStyle>
          <a:p>
            <a:r>
              <a:rPr lang="es-PE" dirty="0"/>
              <a:t>[Lista de contenidos]</a:t>
            </a:r>
          </a:p>
        </p:txBody>
      </p:sp>
    </p:spTree>
    <p:extLst>
      <p:ext uri="{BB962C8B-B14F-4D97-AF65-F5344CB8AC3E}">
        <p14:creationId xmlns:p14="http://schemas.microsoft.com/office/powerpoint/2010/main" val="259980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3C6A18-6652-4B37-B42C-FF8316C1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1712C-092D-4D9F-AD65-67DAD0B32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C85F2D-FF6A-48C0-B338-1EE3A924A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0BCE3-0F68-4630-B7C3-4BAD275B96B0}" type="datetimeFigureOut">
              <a:rPr lang="es-PE" smtClean="0"/>
              <a:t>27/08/2026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6CC99-A9E7-45EE-B9F1-AC3F0ACC8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0FCC2-34AA-4E0F-AFF5-2610C3743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65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KxfJ1ORGkc" TargetMode="External"/><Relationship Id="rId2" Type="http://schemas.openxmlformats.org/officeDocument/2006/relationships/hyperlink" Target="https://www.youtube.com/watch?v=y1z8pBETpqo" TargetMode="Externa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youtube.com/watch?v=4a2FPpDzcr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SYA0nmoC8g" TargetMode="External"/><Relationship Id="rId2" Type="http://schemas.openxmlformats.org/officeDocument/2006/relationships/hyperlink" Target="https://www.youtube.com/watch?v=y1z8pBETpqo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youtube.com/watch?v=4a2FPpDzcrs" TargetMode="External"/><Relationship Id="rId4" Type="http://schemas.openxmlformats.org/officeDocument/2006/relationships/hyperlink" Target="https://www.youtube.com/watch?v=jKxfJ1ORGkc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14E3DC-9ED0-418E-8308-EE7F16FE01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05" r="18440" b="4762"/>
          <a:stretch/>
        </p:blipFill>
        <p:spPr>
          <a:xfrm>
            <a:off x="483954" y="1052736"/>
            <a:ext cx="3379798" cy="41228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ítulo 4">
            <a:extLst>
              <a:ext uri="{FF2B5EF4-FFF2-40B4-BE49-F238E27FC236}">
                <a16:creationId xmlns:a16="http://schemas.microsoft.com/office/drawing/2014/main" id="{57D20B39-4B6F-461A-BA98-15191BA5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328" y="1927916"/>
            <a:ext cx="7935027" cy="1619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362075" algn="l"/>
              </a:tabLst>
            </a:pPr>
            <a:r>
              <a:rPr lang="es-PE" sz="9600" dirty="0">
                <a:solidFill>
                  <a:srgbClr val="003399"/>
                </a:solidFill>
                <a:latin typeface="Castellar" panose="020A0402060406010301" pitchFamily="18" charset="0"/>
              </a:rPr>
              <a:t>FILOSOFÍA</a:t>
            </a:r>
            <a:endParaRPr lang="es-PE" sz="9600" dirty="0">
              <a:solidFill>
                <a:srgbClr val="003399"/>
              </a:solidFill>
              <a:latin typeface="Castellar" panose="020A0402060406010301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ubtítulo 1">
            <a:extLst>
              <a:ext uri="{FF2B5EF4-FFF2-40B4-BE49-F238E27FC236}">
                <a16:creationId xmlns:a16="http://schemas.microsoft.com/office/drawing/2014/main" id="{93754C03-429E-4EAA-A864-FBAD5BCC7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2046" y="5377384"/>
            <a:ext cx="8420947" cy="855760"/>
          </a:xfrm>
        </p:spPr>
        <p:txBody>
          <a:bodyPr>
            <a:normAutofit fontScale="92500" lnSpcReduction="10000"/>
          </a:bodyPr>
          <a:lstStyle/>
          <a:p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Docente:                                                        </a:t>
            </a:r>
            <a:r>
              <a:rPr lang="es-PE" dirty="0">
                <a:solidFill>
                  <a:schemeClr val="tx1"/>
                </a:solidFill>
              </a:rPr>
              <a:t>rcotrina@usat.edu.pe</a:t>
            </a:r>
            <a:endParaRPr lang="es-PE" sz="2800" dirty="0">
              <a:solidFill>
                <a:schemeClr val="tx1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Dra. Ruth Cotrina Alvarran. </a:t>
            </a:r>
          </a:p>
        </p:txBody>
      </p:sp>
    </p:spTree>
    <p:extLst>
      <p:ext uri="{BB962C8B-B14F-4D97-AF65-F5344CB8AC3E}">
        <p14:creationId xmlns:p14="http://schemas.microsoft.com/office/powerpoint/2010/main" val="822861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6ED6C3B7-6755-430C-8B29-AF39E6ECFD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9416" y="5514654"/>
            <a:ext cx="5013996" cy="730162"/>
          </a:xfrm>
        </p:spPr>
        <p:txBody>
          <a:bodyPr/>
          <a:lstStyle/>
          <a:p>
            <a:r>
              <a:rPr lang="es-ES_tradnl" sz="3200" dirty="0">
                <a:latin typeface="Agency FB" panose="020B0503020202020204" pitchFamily="34" charset="0"/>
              </a:rPr>
              <a:t>Dra. Ruth Cotrina </a:t>
            </a:r>
            <a:r>
              <a:rPr lang="es-ES_tradnl" sz="3200" dirty="0" err="1">
                <a:latin typeface="Agency FB" panose="020B0503020202020204" pitchFamily="34" charset="0"/>
              </a:rPr>
              <a:t>Alvarran</a:t>
            </a:r>
            <a:endParaRPr lang="es-ES_tradnl" sz="3200" dirty="0">
              <a:latin typeface="Agency FB" panose="020B0503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51A47A5-75CF-4FC9-8B3E-9DD315EF6C83}"/>
              </a:ext>
            </a:extLst>
          </p:cNvPr>
          <p:cNvSpPr/>
          <p:nvPr/>
        </p:nvSpPr>
        <p:spPr>
          <a:xfrm>
            <a:off x="7951980" y="4579290"/>
            <a:ext cx="2784152" cy="15446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solidFill>
                  <a:srgbClr val="003399"/>
                </a:solidFill>
              </a:rPr>
              <a:t>SESIÒN</a:t>
            </a:r>
          </a:p>
          <a:p>
            <a:pPr algn="ctr"/>
            <a:r>
              <a:rPr lang="es-PE" sz="3600" b="1" dirty="0">
                <a:solidFill>
                  <a:srgbClr val="003399"/>
                </a:solidFill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A9F7C41-781C-44C6-AB0B-8854EA019B2C}"/>
              </a:ext>
            </a:extLst>
          </p:cNvPr>
          <p:cNvSpPr/>
          <p:nvPr/>
        </p:nvSpPr>
        <p:spPr>
          <a:xfrm>
            <a:off x="3844067" y="1316908"/>
            <a:ext cx="7519276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0" cap="all" spc="0" normalizeH="0" baseline="0" noProof="0" dirty="0">
                <a:ln/>
                <a:solidFill>
                  <a:srgbClr val="990000"/>
                </a:solidFill>
                <a:effectLst>
                  <a:outerShdw blurRad="19685" dist="12700" dir="5400000" algn="tl" rotWithShape="0">
                    <a:srgbClr val="0098C8">
                      <a:satMod val="130000"/>
                      <a:alpha val="60000"/>
                    </a:srgb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Arial Black" panose="020B0A04020102020204" pitchFamily="34" charset="0"/>
              </a:rPr>
              <a:t>ORIGEN  DE LA FILOSOFÌA y</a:t>
            </a:r>
          </a:p>
          <a:p>
            <a:pPr lvl="0" algn="ctr"/>
            <a:r>
              <a:rPr lang="es-ES" sz="3600" b="1" kern="0" cap="all" dirty="0">
                <a:ln/>
                <a:solidFill>
                  <a:srgbClr val="990000"/>
                </a:solidFill>
                <a:effectLst>
                  <a:outerShdw blurRad="19685" dist="12700" dir="5400000" algn="tl" rotWithShape="0">
                    <a:srgbClr val="0098C8">
                      <a:satMod val="130000"/>
                      <a:alpha val="60000"/>
                    </a:srgbClr>
                  </a:outerShdw>
                  <a:reflection blurRad="10000" stA="55000" endPos="48000" dist="500" dir="5400000" sy="-100000" algn="bl" rotWithShape="0"/>
                </a:effectLst>
                <a:latin typeface="Arial Black" panose="020B0A04020102020204" pitchFamily="34" charset="0"/>
              </a:rPr>
              <a:t>Evolución histórica de la Filosofía</a:t>
            </a:r>
            <a:endParaRPr kumimoji="0" lang="es-PE" sz="3600" b="1" i="0" u="none" strike="noStrike" kern="0" cap="all" spc="0" normalizeH="0" baseline="0" noProof="0" dirty="0">
              <a:ln/>
              <a:solidFill>
                <a:srgbClr val="990000"/>
              </a:solidFill>
              <a:effectLst>
                <a:outerShdw blurRad="19685" dist="12700" dir="5400000" algn="tl" rotWithShape="0">
                  <a:srgbClr val="0098C8">
                    <a:satMod val="130000"/>
                    <a:alpha val="60000"/>
                  </a:srgb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Arial Black" panose="020B0A040201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E086C3-4F7A-4392-9237-1184D9C49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00" y="739587"/>
            <a:ext cx="2922494" cy="21918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2" descr="Filosofía antigua: qué es, su origen y sus representantes">
            <a:extLst>
              <a:ext uri="{FF2B5EF4-FFF2-40B4-BE49-F238E27FC236}">
                <a16:creationId xmlns:a16="http://schemas.microsoft.com/office/drawing/2014/main" id="{7E81D175-D3F1-49FE-A4A9-0FAB9F294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00" y="3289919"/>
            <a:ext cx="3433022" cy="171651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79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23EE3D7-27AF-45A0-B8BE-BA9D1E833428}"/>
              </a:ext>
            </a:extLst>
          </p:cNvPr>
          <p:cNvSpPr/>
          <p:nvPr/>
        </p:nvSpPr>
        <p:spPr>
          <a:xfrm>
            <a:off x="2105265" y="3812734"/>
            <a:ext cx="79814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3600" b="1" dirty="0">
                <a:solidFill>
                  <a:srgbClr val="C00000"/>
                </a:solidFill>
              </a:rPr>
              <a:t>RESULTADO DE APRENDIZAJE DE LA UNIDAD 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F3A49A-522A-4FDF-AF7A-3378459AA984}"/>
              </a:ext>
            </a:extLst>
          </p:cNvPr>
          <p:cNvSpPr/>
          <p:nvPr/>
        </p:nvSpPr>
        <p:spPr>
          <a:xfrm>
            <a:off x="503584" y="444107"/>
            <a:ext cx="111185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I :</a:t>
            </a:r>
            <a:r>
              <a:rPr lang="es-ES" sz="48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Herramientas para un pensamiento crítico y reflexivo: Actitud filosófica y Filosofía</a:t>
            </a:r>
            <a:endParaRPr lang="es-PE" sz="48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92FB29-9DA8-72DB-088E-22E9EAAD7AC1}"/>
              </a:ext>
            </a:extLst>
          </p:cNvPr>
          <p:cNvSpPr txBox="1"/>
          <p:nvPr/>
        </p:nvSpPr>
        <p:spPr>
          <a:xfrm>
            <a:off x="1225825" y="5384014"/>
            <a:ext cx="99523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Explica aspectos esenciales de la actitud filosófica y de la Filosofía.</a:t>
            </a:r>
          </a:p>
        </p:txBody>
      </p:sp>
    </p:spTree>
    <p:extLst>
      <p:ext uri="{BB962C8B-B14F-4D97-AF65-F5344CB8AC3E}">
        <p14:creationId xmlns:p14="http://schemas.microsoft.com/office/powerpoint/2010/main" val="147569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5AFDE77-78BC-4E41-97F2-F32809220980}"/>
              </a:ext>
            </a:extLst>
          </p:cNvPr>
          <p:cNvSpPr txBox="1"/>
          <p:nvPr/>
        </p:nvSpPr>
        <p:spPr>
          <a:xfrm>
            <a:off x="1451484" y="1056233"/>
            <a:ext cx="92890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rgbClr val="C00000"/>
                </a:solidFill>
                <a:latin typeface="+mn-lt"/>
              </a:rPr>
              <a:t>PROPÓSITO DE APRENDIZAJE DE LA SESIÓN</a:t>
            </a:r>
            <a:endParaRPr lang="es-PE" sz="4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7B1E3EC-C842-4994-AF48-83665BF1B42B}"/>
              </a:ext>
            </a:extLst>
          </p:cNvPr>
          <p:cNvSpPr/>
          <p:nvPr/>
        </p:nvSpPr>
        <p:spPr>
          <a:xfrm>
            <a:off x="781722" y="3201056"/>
            <a:ext cx="106285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600" b="1" dirty="0"/>
              <a:t>E</a:t>
            </a:r>
            <a:r>
              <a:rPr lang="es-PE" sz="3600" b="1" dirty="0"/>
              <a:t>xplica  el origen e importancia de la evolución histórica de  la filosofía, </a:t>
            </a:r>
            <a:r>
              <a:rPr lang="es-ES" sz="3600" b="1" dirty="0"/>
              <a:t>para comprender cómo el pensamiento filosófico ha cambiado a través del tiempo, desarrollando una actitud crítica y reflexiva.</a:t>
            </a:r>
            <a:r>
              <a:rPr lang="es-PE" sz="36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877166"/>
      </p:ext>
    </p:extLst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58474BC-82C8-48CE-B0AC-AD9020CF49A1}"/>
              </a:ext>
            </a:extLst>
          </p:cNvPr>
          <p:cNvSpPr txBox="1"/>
          <p:nvPr/>
        </p:nvSpPr>
        <p:spPr>
          <a:xfrm>
            <a:off x="334213" y="369769"/>
            <a:ext cx="2510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C00000"/>
                </a:solidFill>
              </a:rPr>
              <a:t>INDICADOR</a:t>
            </a:r>
            <a:endParaRPr lang="es-PE" sz="3200" b="1" dirty="0">
              <a:solidFill>
                <a:srgbClr val="C0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DB4594-9CA0-4ABA-B4BC-49B6CB942BC4}"/>
              </a:ext>
            </a:extLst>
          </p:cNvPr>
          <p:cNvSpPr txBox="1"/>
          <p:nvPr/>
        </p:nvSpPr>
        <p:spPr>
          <a:xfrm>
            <a:off x="334213" y="2851906"/>
            <a:ext cx="18101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C00000"/>
                </a:solidFill>
              </a:rPr>
              <a:t>EVIDENCIA</a:t>
            </a:r>
            <a:endParaRPr lang="es-PE" sz="2800" b="1" dirty="0">
              <a:solidFill>
                <a:srgbClr val="C0000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7493A2F-BC7E-4B94-878C-57220F13E076}"/>
              </a:ext>
            </a:extLst>
          </p:cNvPr>
          <p:cNvSpPr txBox="1"/>
          <p:nvPr/>
        </p:nvSpPr>
        <p:spPr>
          <a:xfrm>
            <a:off x="278418" y="4572420"/>
            <a:ext cx="4932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C00000"/>
                </a:solidFill>
              </a:rPr>
              <a:t>INSTRUMENTO DE EVALUACIÓN</a:t>
            </a:r>
            <a:endParaRPr lang="es-PE" sz="2800" b="1" dirty="0">
              <a:solidFill>
                <a:srgbClr val="C0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0ECFC2-C5B3-4D30-918C-587481F9FCB9}"/>
              </a:ext>
            </a:extLst>
          </p:cNvPr>
          <p:cNvSpPr txBox="1"/>
          <p:nvPr/>
        </p:nvSpPr>
        <p:spPr>
          <a:xfrm>
            <a:off x="479376" y="3525990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Participación oral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B9FB30-53E3-4095-BF33-401E0A39C0D6}"/>
              </a:ext>
            </a:extLst>
          </p:cNvPr>
          <p:cNvSpPr txBox="1"/>
          <p:nvPr/>
        </p:nvSpPr>
        <p:spPr>
          <a:xfrm>
            <a:off x="487016" y="5491640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Registro de observación.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83DB2E9-994D-4C57-8452-C7A4AD7BEC71}"/>
              </a:ext>
            </a:extLst>
          </p:cNvPr>
          <p:cNvSpPr/>
          <p:nvPr/>
        </p:nvSpPr>
        <p:spPr>
          <a:xfrm>
            <a:off x="808963" y="1177558"/>
            <a:ext cx="103789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Explica la actitud filosófica y el origen de la filosofía precisando aspectos esenciales de su naturaleza.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92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DD565-9B05-5592-C240-365C4E10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04664"/>
            <a:ext cx="7036488" cy="792088"/>
          </a:xfrm>
        </p:spPr>
        <p:txBody>
          <a:bodyPr>
            <a:normAutofit fontScale="90000"/>
          </a:bodyPr>
          <a:lstStyle/>
          <a:p>
            <a:r>
              <a:rPr lang="es-PE" sz="5400" dirty="0">
                <a:solidFill>
                  <a:srgbClr val="C00000"/>
                </a:solidFill>
              </a:rPr>
              <a:t>Contenidos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8D8142B-B53A-45D0-B3EB-520D1ABE23BB}"/>
              </a:ext>
            </a:extLst>
          </p:cNvPr>
          <p:cNvSpPr/>
          <p:nvPr/>
        </p:nvSpPr>
        <p:spPr>
          <a:xfrm>
            <a:off x="698693" y="1312028"/>
            <a:ext cx="10693655" cy="454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sz="2800" b="1" dirty="0">
                <a:solidFill>
                  <a:srgbClr val="000000"/>
                </a:solidFill>
                <a:latin typeface="Arial" panose="020B0604020202020204" pitchFamily="34" charset="0"/>
              </a:rPr>
              <a:t>Génesis de la filosofía en los griegos.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ES" sz="2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sz="2800" b="1" dirty="0">
                <a:solidFill>
                  <a:srgbClr val="000000"/>
                </a:solidFill>
                <a:latin typeface="Arial" panose="020B0604020202020204" pitchFamily="34" charset="0"/>
              </a:rPr>
              <a:t>Las formas vitales griegas que prepararon el nacimiento de la filosofía.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ES" sz="2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El mito.</a:t>
            </a:r>
            <a:r>
              <a:rPr lang="es-PE" sz="2800" b="1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PE" sz="2800" b="1" dirty="0">
                <a:ea typeface="Calibri" panose="020F0502020204030204" pitchFamily="34" charset="0"/>
                <a:cs typeface="Arial" panose="020B0604020202020204" pitchFamily="34" charset="0"/>
              </a:rPr>
              <a:t>Filósofos de la edad Antigua  y edad Media. 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PE" sz="2800" b="1" dirty="0">
                <a:ea typeface="Calibri" panose="020F0502020204030204" pitchFamily="34" charset="0"/>
                <a:cs typeface="Arial" panose="020B0604020202020204" pitchFamily="34" charset="0"/>
              </a:rPr>
              <a:t>Filósofos de la edad Moderna y edad contemporánea.</a:t>
            </a:r>
          </a:p>
          <a:p>
            <a:pPr marL="28575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ES" sz="2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46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8403F9D-BECC-47D0-8943-0ED53370DA8A}"/>
              </a:ext>
            </a:extLst>
          </p:cNvPr>
          <p:cNvSpPr txBox="1"/>
          <p:nvPr/>
        </p:nvSpPr>
        <p:spPr>
          <a:xfrm>
            <a:off x="4566539" y="159915"/>
            <a:ext cx="204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INICIO</a:t>
            </a:r>
            <a:endParaRPr lang="es-PE" sz="36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EDCE1B-106A-47D6-8B62-311383D3F06A}"/>
              </a:ext>
            </a:extLst>
          </p:cNvPr>
          <p:cNvSpPr txBox="1"/>
          <p:nvPr/>
        </p:nvSpPr>
        <p:spPr>
          <a:xfrm>
            <a:off x="613139" y="935917"/>
            <a:ext cx="1011223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PE" sz="2800" b="1" dirty="0">
                <a:latin typeface="Arial" panose="020B0604020202020204" pitchFamily="34" charset="0"/>
                <a:cs typeface="Arial" panose="020B0604020202020204" pitchFamily="34" charset="0"/>
              </a:rPr>
              <a:t>¿Cuál fue la principal causa para que surja la Filosofía?</a:t>
            </a:r>
          </a:p>
          <a:p>
            <a:pPr marL="457200" indent="-457200">
              <a:buFont typeface="+mj-lt"/>
              <a:buAutoNum type="arabicPeriod"/>
            </a:pPr>
            <a:endParaRPr lang="es-E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s-E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¿Por qué crees que los seres humanos empezaron a filosofar? </a:t>
            </a:r>
          </a:p>
          <a:p>
            <a:pPr marL="514350" indent="-514350" algn="just">
              <a:buFont typeface="+mj-lt"/>
              <a:buAutoNum type="arabicPeriod"/>
            </a:pPr>
            <a:endParaRPr lang="es-E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¿Qué importancia tiene estudiar la historia de la filosofía en la actualidad?</a:t>
            </a:r>
          </a:p>
          <a:p>
            <a:pPr marL="457200" indent="-457200">
              <a:buFont typeface="+mj-lt"/>
              <a:buAutoNum type="arabicPeriod"/>
            </a:pPr>
            <a:endParaRPr lang="es-E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40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A62749-2685-496F-9491-24ACAF78C1BF}"/>
              </a:ext>
            </a:extLst>
          </p:cNvPr>
          <p:cNvSpPr txBox="1"/>
          <p:nvPr/>
        </p:nvSpPr>
        <p:spPr>
          <a:xfrm>
            <a:off x="3839058" y="107341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DESARROLLO</a:t>
            </a:r>
            <a:endParaRPr lang="es-PE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62841A-A92B-495E-AEA7-ADF07134FB30}"/>
              </a:ext>
            </a:extLst>
          </p:cNvPr>
          <p:cNvSpPr txBox="1"/>
          <p:nvPr/>
        </p:nvSpPr>
        <p:spPr>
          <a:xfrm>
            <a:off x="175706" y="709200"/>
            <a:ext cx="513857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</a:rPr>
              <a:t>1¿En qué consiste la creación del genio helénico?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</a:rPr>
              <a:t>2.¿Los conocimientos egipcios en qué fueron trasformados? Y ¿Cuáles fueron las condiciones que prepararon el nacimiento de la filosofía?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</a:rPr>
              <a:t>3.Explique las características de los poemas homéricos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</a:rPr>
              <a:t>4.Qué tuvo que ver la religión en el surgimiento de la filosofía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</a:rPr>
              <a:t>5.¿Cómo se desarrolló el aspecto político económico en el origen de la filosofía?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</a:rPr>
              <a:t>6¿Por qué la filosofía nació en Grecia?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  <a:hlinkClick r:id="rId2"/>
              </a:rPr>
              <a:t>https://www.youtube.com/watch?v=y1z8pBETpqo</a:t>
            </a: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</a:rPr>
              <a:t> 7-¿Qué son los mitos, sus características, tipos y  función ? ¿Han dejado de existir?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  <a:hlinkClick r:id="rId3"/>
              </a:rPr>
              <a:t>https://www.youtube.com/watch?v=jKxfJ1ORGkc</a:t>
            </a: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MX" sz="1600" b="1" dirty="0">
                <a:solidFill>
                  <a:srgbClr val="000000"/>
                </a:solidFill>
                <a:latin typeface="Arial" panose="020B0604020202020204" pitchFamily="34" charset="0"/>
                <a:hlinkClick r:id="rId4"/>
              </a:rPr>
              <a:t>https://www.youtube.com/watch?v=4a2FPpDzcrs</a:t>
            </a: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s-MX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9046C4-6017-4246-81A9-12F1DF6F250B}"/>
              </a:ext>
            </a:extLst>
          </p:cNvPr>
          <p:cNvSpPr txBox="1"/>
          <p:nvPr/>
        </p:nvSpPr>
        <p:spPr>
          <a:xfrm>
            <a:off x="5690796" y="709200"/>
            <a:ext cx="6325498" cy="5926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Filósofos de la edad Antigua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s-PE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Parménides y Heráclito </a:t>
            </a:r>
            <a:r>
              <a:rPr lang="es-PE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r>
              <a:rPr lang="es-PE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origen de la realidad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s-PE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Los sofistas :Protágoras de Abdera y Gorgias de </a:t>
            </a:r>
            <a:r>
              <a:rPr lang="es-PE" sz="14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Leontinos</a:t>
            </a:r>
            <a:endParaRPr lang="es-PE" sz="14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Filósofos de Clásicos:</a:t>
            </a:r>
          </a:p>
          <a:p>
            <a:pPr lvl="0" algn="just">
              <a:lnSpc>
                <a:spcPct val="115000"/>
              </a:lnSpc>
            </a:pPr>
            <a:r>
              <a:rPr lang="es-PE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 </a:t>
            </a:r>
            <a:r>
              <a:rPr lang="es-PE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–Sócrates: </a:t>
            </a:r>
            <a:r>
              <a:rPr lang="es-PE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hombre. La teoría del conocimiento Ética.</a:t>
            </a:r>
          </a:p>
          <a:p>
            <a:pPr lvl="0" algn="just">
              <a:lnSpc>
                <a:spcPct val="115000"/>
              </a:lnSpc>
            </a:pPr>
            <a:endParaRPr lang="es-PE" sz="14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15000"/>
              </a:lnSpc>
            </a:pPr>
            <a:r>
              <a:rPr lang="es-PE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4-Platón :El hombre. El conocimiento humano. El mito de la caverna y carro alado. La ética </a:t>
            </a:r>
          </a:p>
          <a:p>
            <a:pPr lvl="0" algn="just">
              <a:lnSpc>
                <a:spcPct val="115000"/>
              </a:lnSpc>
            </a:pPr>
            <a:endParaRPr lang="es-PE" sz="14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15000"/>
              </a:lnSpc>
            </a:pPr>
            <a:r>
              <a:rPr lang="es-PE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5-Aristóteles </a:t>
            </a:r>
            <a:r>
              <a:rPr lang="es-PE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 El hombre. </a:t>
            </a:r>
            <a:r>
              <a:rPr lang="es-PE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ética.</a:t>
            </a:r>
          </a:p>
          <a:p>
            <a:pPr lvl="0" algn="just">
              <a:lnSpc>
                <a:spcPct val="115000"/>
              </a:lnSpc>
            </a:pPr>
            <a:endParaRPr lang="es-ES" sz="1400" b="1" dirty="0">
              <a:solidFill>
                <a:srgbClr val="C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s-ES" sz="14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Filósofos de la edad Media </a:t>
            </a:r>
            <a:r>
              <a:rPr lang="es-ES" sz="1400" b="1" dirty="0">
                <a:solidFill>
                  <a:schemeClr val="accent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lvl="0" algn="just">
              <a:lnSpc>
                <a:spcPct val="115000"/>
              </a:lnSpc>
            </a:pPr>
            <a:r>
              <a:rPr lang="es-ES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6 - San Agustín de Hipona: El ser humano. El  conocimiento</a:t>
            </a:r>
          </a:p>
          <a:p>
            <a:pPr lvl="0" algn="just">
              <a:lnSpc>
                <a:spcPct val="115000"/>
              </a:lnSpc>
            </a:pPr>
            <a:r>
              <a:rPr lang="es-ES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mal y la libertad</a:t>
            </a:r>
          </a:p>
          <a:p>
            <a:pPr lvl="0" algn="just">
              <a:lnSpc>
                <a:spcPct val="115000"/>
              </a:lnSpc>
            </a:pPr>
            <a:r>
              <a:rPr lang="es-ES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</a:p>
          <a:p>
            <a:pPr lvl="0" algn="just">
              <a:lnSpc>
                <a:spcPct val="115000"/>
              </a:lnSpc>
            </a:pPr>
            <a:r>
              <a:rPr lang="es-ES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7-Santo Tomás : </a:t>
            </a:r>
            <a:r>
              <a:rPr lang="es-PE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Líneas importantes de su pensamiento. </a:t>
            </a:r>
            <a:r>
              <a:rPr lang="es-ES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ser humano.</a:t>
            </a:r>
          </a:p>
          <a:p>
            <a:pPr lvl="0" algn="just">
              <a:lnSpc>
                <a:spcPct val="115000"/>
              </a:lnSpc>
            </a:pPr>
            <a:endParaRPr lang="es-ES" sz="1400" b="1" dirty="0">
              <a:solidFill>
                <a:schemeClr val="accent2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/>
            </a:pPr>
            <a:r>
              <a:rPr lang="es-PE" sz="14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Filósofos de la edad Moderna: </a:t>
            </a:r>
          </a:p>
          <a:p>
            <a:r>
              <a:rPr lang="es-PE" sz="14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  <a:r>
              <a:rPr lang="es-PE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8 -Descartes   -Immanuel Kant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s-PE" sz="14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PE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Filósofos de la edad contemporánea</a:t>
            </a:r>
            <a:r>
              <a:rPr lang="es-E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Karl Marx. - Friedrich Nietzsche  - El personalismo</a:t>
            </a:r>
            <a:endParaRPr lang="es-PE" sz="1400" b="1" dirty="0">
              <a:solidFill>
                <a:schemeClr val="accent2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94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D57183A-DFE3-4651-88C7-1D6E9381B9A9}"/>
              </a:ext>
            </a:extLst>
          </p:cNvPr>
          <p:cNvSpPr txBox="1"/>
          <p:nvPr/>
        </p:nvSpPr>
        <p:spPr>
          <a:xfrm>
            <a:off x="4655840" y="476672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rgbClr val="C00000"/>
                </a:solidFill>
                <a:latin typeface="Georgia" panose="02040502050405020303" pitchFamily="18" charset="0"/>
              </a:rPr>
              <a:t>CIERRE</a:t>
            </a:r>
            <a:endParaRPr lang="es-PE" sz="44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6C665C-272E-45F8-AE9B-E7F9231E1D2B}"/>
              </a:ext>
            </a:extLst>
          </p:cNvPr>
          <p:cNvSpPr txBox="1"/>
          <p:nvPr/>
        </p:nvSpPr>
        <p:spPr>
          <a:xfrm>
            <a:off x="803412" y="1622631"/>
            <a:ext cx="105851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b="1" dirty="0"/>
              <a:t>1.	¿Dónde surgió la Filosofía?</a:t>
            </a:r>
          </a:p>
          <a:p>
            <a:pPr algn="just"/>
            <a:endParaRPr lang="es-MX" sz="2400" b="1" dirty="0"/>
          </a:p>
          <a:p>
            <a:pPr algn="just"/>
            <a:r>
              <a:rPr lang="es-MX" sz="2400" b="1" dirty="0"/>
              <a:t>2.	¿Cuáles fueron las condiciones para que surja la Filosofía y cuál de ellas fue la más destacada?</a:t>
            </a:r>
          </a:p>
          <a:p>
            <a:pPr algn="just"/>
            <a:endParaRPr lang="es-MX" sz="2400" b="1" dirty="0"/>
          </a:p>
          <a:p>
            <a:pPr marL="457200" indent="-457200" algn="just">
              <a:buAutoNum type="arabicPeriod" startAt="3"/>
            </a:pPr>
            <a:r>
              <a:rPr lang="es-MX" sz="2400" b="1" dirty="0"/>
              <a:t>¿Qué son los mitos?</a:t>
            </a:r>
          </a:p>
          <a:p>
            <a:pPr marL="457200" indent="-457200" algn="just">
              <a:buAutoNum type="arabicPeriod" startAt="3"/>
            </a:pPr>
            <a:endParaRPr lang="es-MX" sz="2400" b="1" dirty="0"/>
          </a:p>
          <a:p>
            <a:pPr marL="457200" indent="-457200" algn="just">
              <a:buAutoNum type="arabicPeriod" startAt="3"/>
            </a:pPr>
            <a:r>
              <a:rPr lang="es-MX" sz="2400" b="1" dirty="0"/>
              <a:t>Explique el pensamiento de algún filosofo.</a:t>
            </a:r>
          </a:p>
        </p:txBody>
      </p:sp>
    </p:spTree>
    <p:extLst>
      <p:ext uri="{BB962C8B-B14F-4D97-AF65-F5344CB8AC3E}">
        <p14:creationId xmlns:p14="http://schemas.microsoft.com/office/powerpoint/2010/main" val="184033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6335AF4-AC71-4416-93A9-B2812A4E17A9}"/>
              </a:ext>
            </a:extLst>
          </p:cNvPr>
          <p:cNvSpPr/>
          <p:nvPr/>
        </p:nvSpPr>
        <p:spPr>
          <a:xfrm>
            <a:off x="3460116" y="77768"/>
            <a:ext cx="3768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3200" b="1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4A05A4-69D6-4334-ADD9-8FEC66C3C7AE}"/>
              </a:ext>
            </a:extLst>
          </p:cNvPr>
          <p:cNvSpPr/>
          <p:nvPr/>
        </p:nvSpPr>
        <p:spPr>
          <a:xfrm>
            <a:off x="285738" y="662543"/>
            <a:ext cx="1159070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rgbClr val="000000"/>
                </a:solidFill>
                <a:latin typeface="Arial" panose="020B0604020202020204" pitchFamily="34" charset="0"/>
              </a:rPr>
              <a:t>La Filosofía  tuvo su origen en las islas Jónicas en Mileto, Grecia siglo VI A.C.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PE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rgbClr val="000000"/>
                </a:solidFill>
                <a:latin typeface="Arial" panose="020B0604020202020204" pitchFamily="34" charset="0"/>
              </a:rPr>
              <a:t>Una de las condiciones más resaltantes para su origen de la Filosofía  fue la democracia y la libertad 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PE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rgbClr val="000000"/>
                </a:solidFill>
                <a:latin typeface="Arial" panose="020B0604020202020204" pitchFamily="34" charset="0"/>
              </a:rPr>
              <a:t>El nacimiento de la Filosofía trae el surgimiento de la ciencia.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PE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rgbClr val="000000"/>
                </a:solidFill>
                <a:latin typeface="Arial" panose="020B0604020202020204" pitchFamily="34" charset="0"/>
              </a:rPr>
              <a:t>El mito no desaparece, da paso a la filosofía, ella lo eleva a una categoría racional.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Parménides. El origen de la realidad esta en el fuego, cambiante.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ES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Sto. Tomás de Aquino su obra representa una síntesis de fe y </a:t>
            </a:r>
            <a:r>
              <a:rPr lang="es-ES" sz="1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razòn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ES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San Agustín : La felicidad esta en la posesión de la verdad.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ES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Sócrates: El hombre debe preocuparse de vivir moralmente bien, buscando la vedad.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ES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Aristóteles: El hombre es un ser racional por naturaleza.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ES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Platón: La ciencia esta en el mundo de las ideas.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ES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Descartes: “Cogito ergo Sum” :Pienso luego existo. Dudar :es pensar  -es encontrar la verdad por medio de la  razón.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ES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El personalismo: La persona es el centro de la sociedad. La dignidad da una gran realce al ser persona.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s-ES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80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A6A73D5-C0FA-4D7D-BC24-0477DDD4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03" y="655385"/>
            <a:ext cx="8168139" cy="720080"/>
          </a:xfrm>
          <a:prstGeom prst="rect">
            <a:avLst/>
          </a:prstGeom>
        </p:spPr>
        <p:txBody>
          <a:bodyPr/>
          <a:lstStyle/>
          <a:p>
            <a:r>
              <a:rPr lang="es-ES" sz="4400" dirty="0">
                <a:solidFill>
                  <a:srgbClr val="C00000"/>
                </a:solidFill>
                <a:latin typeface="Georgia" panose="02040502050405020303" pitchFamily="18" charset="0"/>
              </a:rPr>
              <a:t>Instrumento de evaluación</a:t>
            </a:r>
            <a:endParaRPr lang="es-PE" sz="440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61999A-9EDB-4EE9-B1BE-681D4359BD98}"/>
              </a:ext>
            </a:extLst>
          </p:cNvPr>
          <p:cNvSpPr txBox="1"/>
          <p:nvPr/>
        </p:nvSpPr>
        <p:spPr>
          <a:xfrm>
            <a:off x="2666282" y="2492896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R</a:t>
            </a:r>
            <a:r>
              <a:rPr lang="es-PE" sz="4000" dirty="0" err="1"/>
              <a:t>egistro</a:t>
            </a:r>
            <a:r>
              <a:rPr lang="es-PE" sz="4000" dirty="0"/>
              <a:t> de observación</a:t>
            </a:r>
          </a:p>
        </p:txBody>
      </p:sp>
    </p:spTree>
    <p:extLst>
      <p:ext uri="{BB962C8B-B14F-4D97-AF65-F5344CB8AC3E}">
        <p14:creationId xmlns:p14="http://schemas.microsoft.com/office/powerpoint/2010/main" val="20328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10296D2-54FF-1D78-977F-CE7E7DDD3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12</a:t>
            </a:fld>
            <a:endParaRPr lang="es-PE" dirty="0"/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F7F23FA5-794F-5192-5248-1B36FCF11E4E}"/>
              </a:ext>
            </a:extLst>
          </p:cNvPr>
          <p:cNvSpPr/>
          <p:nvPr/>
        </p:nvSpPr>
        <p:spPr>
          <a:xfrm>
            <a:off x="2895397" y="25369"/>
            <a:ext cx="63898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4000" b="1" dirty="0">
                <a:solidFill>
                  <a:srgbClr val="C00000"/>
                </a:solidFill>
                <a:latin typeface="Georgia" panose="02040502050405020303" pitchFamily="18" charset="0"/>
              </a:rPr>
              <a:t>ESTUDIO AUTÓNOMO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3B42C-A9C1-4C86-D8A5-3FDF389E5B1B}"/>
              </a:ext>
            </a:extLst>
          </p:cNvPr>
          <p:cNvSpPr txBox="1">
            <a:spLocks/>
          </p:cNvSpPr>
          <p:nvPr/>
        </p:nvSpPr>
        <p:spPr>
          <a:xfrm>
            <a:off x="180818" y="819316"/>
            <a:ext cx="11819047" cy="611451"/>
          </a:xfrm>
          <a:prstGeom prst="rect">
            <a:avLst/>
          </a:prstGeom>
        </p:spPr>
        <p:txBody>
          <a:bodyPr>
            <a:normAutofit/>
          </a:bodyPr>
          <a:lstStyle>
            <a:lvl1pPr marL="257168" indent="-25716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557199" indent="-21430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28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20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12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s-PE" b="1" dirty="0">
                <a:solidFill>
                  <a:srgbClr val="000066"/>
                </a:solidFill>
                <a:ea typeface="Calibri" panose="020F0502020204030204" pitchFamily="34" charset="0"/>
                <a:cs typeface="Aharoni" panose="02010803020104030203" pitchFamily="2" charset="-79"/>
              </a:rPr>
              <a:t>Imprimir, leer y subrayar los contenidos del tema:</a:t>
            </a:r>
            <a:endParaRPr lang="es-PE" b="1" dirty="0">
              <a:solidFill>
                <a:srgbClr val="C00000"/>
              </a:solidFill>
              <a:ea typeface="Calibri" panose="020F0502020204030204" pitchFamily="34" charset="0"/>
              <a:cs typeface="Aharoni" panose="02010803020104030203" pitchFamily="2" charset="-79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37C2FF-CA93-427C-B7B3-1E26080ED4E0}"/>
              </a:ext>
            </a:extLst>
          </p:cNvPr>
          <p:cNvSpPr txBox="1"/>
          <p:nvPr/>
        </p:nvSpPr>
        <p:spPr>
          <a:xfrm>
            <a:off x="536098" y="1721441"/>
            <a:ext cx="1063034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rgbClr val="0070C0"/>
                </a:solidFill>
              </a:rPr>
              <a:t>Imprimir, leer y subrayar ideas sobre el tema: </a:t>
            </a:r>
            <a:r>
              <a:rPr lang="es-PE" sz="3200" b="1" dirty="0">
                <a:solidFill>
                  <a:srgbClr val="0070C0"/>
                </a:solidFill>
              </a:rPr>
              <a:t>La Filosofía, para participar en clase.</a:t>
            </a:r>
          </a:p>
          <a:p>
            <a:pPr algn="ctr"/>
            <a:endParaRPr lang="es-PE" sz="3200" b="1" dirty="0">
              <a:solidFill>
                <a:srgbClr val="0070C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PE" sz="3200" b="1" dirty="0"/>
              <a:t>Libro de Genara Castillo, pág.13-19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PE" sz="32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PE" sz="3200" b="1" dirty="0"/>
              <a:t>SEPARARA LA FILOSOFIA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PE" sz="32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PE" sz="3200" b="1" dirty="0"/>
              <a:t>SEPARATA IMPORTANCIA DE LA FILOSOFÍA </a:t>
            </a:r>
          </a:p>
        </p:txBody>
      </p:sp>
    </p:spTree>
    <p:extLst>
      <p:ext uri="{BB962C8B-B14F-4D97-AF65-F5344CB8AC3E}">
        <p14:creationId xmlns:p14="http://schemas.microsoft.com/office/powerpoint/2010/main" val="11164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C5EC2A2-DBBB-44C0-8803-CAC73247DC1D}"/>
              </a:ext>
            </a:extLst>
          </p:cNvPr>
          <p:cNvSpPr txBox="1">
            <a:spLocks/>
          </p:cNvSpPr>
          <p:nvPr/>
        </p:nvSpPr>
        <p:spPr>
          <a:xfrm>
            <a:off x="3728070" y="261519"/>
            <a:ext cx="4176464" cy="70788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42892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685783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028675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371566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s-PE" sz="4000" b="1" dirty="0">
                <a:solidFill>
                  <a:srgbClr val="C00000"/>
                </a:solidFill>
                <a:latin typeface="Georgia" panose="02040502050405020303" pitchFamily="18" charset="0"/>
              </a:rPr>
              <a:t>Referencias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D33362-8530-404A-86CD-D93DDA51FE8E}"/>
              </a:ext>
            </a:extLst>
          </p:cNvPr>
          <p:cNvSpPr/>
          <p:nvPr/>
        </p:nvSpPr>
        <p:spPr>
          <a:xfrm>
            <a:off x="596919" y="1217930"/>
            <a:ext cx="10998161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9963" indent="-319963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26617" algn="l"/>
              </a:tabLst>
            </a:pPr>
            <a:r>
              <a:rPr lang="es-PE" sz="2000" b="1" dirty="0">
                <a:ea typeface="Batang" panose="02030600000101010101" pitchFamily="18" charset="-127"/>
              </a:rPr>
              <a:t>Reale, G. (1991). Historia del pensamiento filosófico y científico (tomo I).Barcelona: Editorial Herder.</a:t>
            </a:r>
          </a:p>
          <a:p>
            <a:pPr marL="319963" indent="-319963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26617" algn="l"/>
              </a:tabLst>
            </a:pPr>
            <a:endParaRPr lang="es-PE" sz="2000" b="1" dirty="0">
              <a:ea typeface="Batang" panose="02030600000101010101" pitchFamily="18" charset="-127"/>
            </a:endParaRPr>
          </a:p>
          <a:p>
            <a:pPr marL="319963" indent="-319963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26617" algn="l"/>
              </a:tabLst>
            </a:pPr>
            <a:r>
              <a:rPr lang="es-PE" sz="2000" b="1" dirty="0">
                <a:ea typeface="Batang" panose="02030600000101010101" pitchFamily="18" charset="-127"/>
              </a:rPr>
              <a:t>Recuperado de </a:t>
            </a:r>
            <a:r>
              <a:rPr lang="es-PE" sz="2000" b="1" dirty="0">
                <a:ea typeface="Batang" panose="02030600000101010101" pitchFamily="18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https://www.youtube.com/watch?v=y1z8pBETpqo</a:t>
            </a:r>
            <a:r>
              <a:rPr lang="es-PE" sz="2000" b="1" dirty="0">
                <a:ea typeface="Batang" panose="02030600000101010101" pitchFamily="18" charset="-127"/>
              </a:rPr>
              <a:t> Donde nació la </a:t>
            </a:r>
          </a:p>
          <a:p>
            <a:pPr marL="319963" indent="-319963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26617" algn="l"/>
              </a:tabLst>
            </a:pPr>
            <a:endParaRPr lang="es-PE" sz="2000" b="1" dirty="0">
              <a:ea typeface="Batang" panose="02030600000101010101" pitchFamily="18" charset="-127"/>
            </a:endParaRPr>
          </a:p>
          <a:p>
            <a:pPr marL="319963" indent="-319963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26617" algn="l"/>
              </a:tabLst>
            </a:pPr>
            <a:r>
              <a:rPr lang="es-PE" sz="2000" b="1" dirty="0">
                <a:ea typeface="Batang" panose="02030600000101010101" pitchFamily="18" charset="-127"/>
              </a:rPr>
              <a:t>Recuperado de </a:t>
            </a:r>
            <a:r>
              <a:rPr lang="es-PE" sz="2000" b="1" dirty="0">
                <a:ea typeface="Batang" panose="02030600000101010101" pitchFamily="18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https://www.youtube.com/watch?v=ASYA0nmoC8g</a:t>
            </a:r>
            <a:r>
              <a:rPr lang="es-PE" sz="2000" b="1" dirty="0">
                <a:ea typeface="Batang" panose="02030600000101010101" pitchFamily="18" charset="-127"/>
              </a:rPr>
              <a:t> El paso del mito a logos.</a:t>
            </a:r>
          </a:p>
          <a:p>
            <a:pPr algn="just">
              <a:spcAft>
                <a:spcPts val="0"/>
              </a:spcAft>
              <a:tabLst>
                <a:tab pos="426617" algn="l"/>
              </a:tabLst>
            </a:pPr>
            <a:r>
              <a:rPr lang="es-PE" sz="2000" b="1" dirty="0">
                <a:ea typeface="Batang" panose="02030600000101010101" pitchFamily="18" charset="-127"/>
              </a:rPr>
              <a:t> </a:t>
            </a:r>
          </a:p>
          <a:p>
            <a:pPr marL="319963" indent="-319963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26617" algn="l"/>
              </a:tabLst>
            </a:pPr>
            <a:r>
              <a:rPr lang="es-PE" sz="2000" b="1" dirty="0">
                <a:ea typeface="Batang" panose="02030600000101010101" pitchFamily="18" charset="-127"/>
              </a:rPr>
              <a:t>Recuperado de </a:t>
            </a:r>
            <a:r>
              <a:rPr lang="es-PE" sz="2000" b="1" dirty="0">
                <a:ea typeface="Batang" panose="0203060000010101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https://www.youtube.com/watch?v=jKxfJ1ORGkc</a:t>
            </a:r>
            <a:endParaRPr lang="es-PE" sz="2000" b="1" dirty="0">
              <a:ea typeface="Batang" panose="02030600000101010101" pitchFamily="18" charset="-127"/>
            </a:endParaRPr>
          </a:p>
          <a:p>
            <a:pPr algn="just">
              <a:spcAft>
                <a:spcPts val="0"/>
              </a:spcAft>
              <a:tabLst>
                <a:tab pos="426617" algn="l"/>
              </a:tabLst>
            </a:pPr>
            <a:r>
              <a:rPr lang="es-PE" sz="2000" b="1" dirty="0">
                <a:ea typeface="Batang" panose="02030600000101010101" pitchFamily="18" charset="-127"/>
              </a:rPr>
              <a:t> Los mitos </a:t>
            </a:r>
          </a:p>
          <a:p>
            <a:pPr algn="just">
              <a:spcAft>
                <a:spcPts val="0"/>
              </a:spcAft>
              <a:tabLst>
                <a:tab pos="426617" algn="l"/>
              </a:tabLst>
            </a:pPr>
            <a:endParaRPr lang="es-PE" sz="2000" b="1" dirty="0">
              <a:ea typeface="Batang" panose="02030600000101010101" pitchFamily="18" charset="-127"/>
            </a:endParaRPr>
          </a:p>
          <a:p>
            <a:pPr marL="319963" indent="-319963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26617" algn="l"/>
              </a:tabLst>
            </a:pPr>
            <a:r>
              <a:rPr lang="es-ES" sz="2000" b="1" dirty="0">
                <a:ea typeface="Batang" panose="02030600000101010101" pitchFamily="18" charset="-127"/>
              </a:rPr>
              <a:t>Recuperado de </a:t>
            </a:r>
            <a:r>
              <a:rPr lang="es-ES" sz="2000" b="1" dirty="0">
                <a:ea typeface="Batang" panose="0203060000010101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https://www.youtube.com/watch?v=4a2FPpDzcrs</a:t>
            </a:r>
            <a:endParaRPr lang="es-ES" sz="2000" b="1" dirty="0">
              <a:ea typeface="Batang" panose="02030600000101010101" pitchFamily="18" charset="-127"/>
            </a:endParaRPr>
          </a:p>
          <a:p>
            <a:pPr algn="just">
              <a:spcAft>
                <a:spcPts val="0"/>
              </a:spcAft>
              <a:tabLst>
                <a:tab pos="426617" algn="l"/>
              </a:tabLst>
            </a:pPr>
            <a:r>
              <a:rPr lang="es-ES" sz="2000" b="1" dirty="0">
                <a:ea typeface="Batang" panose="02030600000101010101" pitchFamily="18" charset="-127"/>
              </a:rPr>
              <a:t>   características , función,  tipos.</a:t>
            </a:r>
          </a:p>
          <a:p>
            <a:pPr algn="just">
              <a:spcAft>
                <a:spcPts val="0"/>
              </a:spcAft>
              <a:tabLst>
                <a:tab pos="426617" algn="l"/>
              </a:tabLst>
            </a:pPr>
            <a:endParaRPr lang="es-ES" sz="2000" b="1" dirty="0">
              <a:ea typeface="Batang" panose="02030600000101010101" pitchFamily="18" charset="-127"/>
            </a:endParaRPr>
          </a:p>
          <a:p>
            <a:pPr marL="319963" indent="-319963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26617" algn="l"/>
              </a:tabLst>
            </a:pPr>
            <a:r>
              <a:rPr lang="es-ES" sz="2000" b="1" dirty="0">
                <a:ea typeface="Batang" panose="02030600000101010101" pitchFamily="18" charset="-127"/>
              </a:rPr>
              <a:t>Castillo, G. (2003). Introducción a la Filosofía. Piura: Editorial UDEP</a:t>
            </a:r>
          </a:p>
          <a:p>
            <a:pPr marL="319963" indent="-319963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26617" algn="l"/>
              </a:tabLst>
            </a:pPr>
            <a:endParaRPr lang="es-PE" sz="2000" b="1" dirty="0"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442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0">
            <a:extLst>
              <a:ext uri="{FF2B5EF4-FFF2-40B4-BE49-F238E27FC236}">
                <a16:creationId xmlns:a16="http://schemas.microsoft.com/office/drawing/2014/main" id="{0CCA811A-31B1-4E6F-8129-5811D2E7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84984"/>
            <a:ext cx="11134725" cy="1620043"/>
          </a:xfrm>
        </p:spPr>
        <p:txBody>
          <a:bodyPr/>
          <a:lstStyle/>
          <a:p>
            <a:pPr algn="ctr"/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Dra. Ruth Cotrina Alvarran</a:t>
            </a:r>
            <a:r>
              <a:rPr lang="es-PE" sz="2000" dirty="0">
                <a:solidFill>
                  <a:schemeClr val="accent2"/>
                </a:solidFill>
                <a:latin typeface="Agency FB" panose="020B0503020202020204" pitchFamily="34" charset="0"/>
              </a:rPr>
              <a:t>.</a:t>
            </a:r>
          </a:p>
          <a:p>
            <a:pPr algn="ctr"/>
            <a:r>
              <a:rPr lang="es-PE" sz="2400" b="1" i="1" dirty="0" err="1">
                <a:latin typeface="Arial Narrow" panose="020B0606020202030204" pitchFamily="34" charset="0"/>
              </a:rPr>
              <a:t>rcotrina</a:t>
            </a:r>
            <a:r>
              <a:rPr lang="es-PE" sz="2400" b="1" i="1" dirty="0">
                <a:latin typeface="Arial Narrow" panose="020B0606020202030204" pitchFamily="34" charset="0"/>
              </a:rPr>
              <a:t> @usat.edu.pe</a:t>
            </a:r>
          </a:p>
        </p:txBody>
      </p:sp>
    </p:spTree>
    <p:extLst>
      <p:ext uri="{BB962C8B-B14F-4D97-AF65-F5344CB8AC3E}">
        <p14:creationId xmlns:p14="http://schemas.microsoft.com/office/powerpoint/2010/main" val="137489407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936</Words>
  <Application>Microsoft Office PowerPoint</Application>
  <PresentationFormat>Panorámica</PresentationFormat>
  <Paragraphs>139</Paragraphs>
  <Slides>14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8" baseType="lpstr">
      <vt:lpstr>Batang</vt:lpstr>
      <vt:lpstr>Agency FB</vt:lpstr>
      <vt:lpstr>Aharoni</vt:lpstr>
      <vt:lpstr>Arial</vt:lpstr>
      <vt:lpstr>Arial Black</vt:lpstr>
      <vt:lpstr>Arial Narrow</vt:lpstr>
      <vt:lpstr>Calibri</vt:lpstr>
      <vt:lpstr>Calibri Light</vt:lpstr>
      <vt:lpstr>Castellar</vt:lpstr>
      <vt:lpstr>Georgia</vt:lpstr>
      <vt:lpstr>Symbol</vt:lpstr>
      <vt:lpstr>Times New Roman</vt:lpstr>
      <vt:lpstr>Wingdings</vt:lpstr>
      <vt:lpstr>Tema de Office</vt:lpstr>
      <vt:lpstr>FILOSOFÍA</vt:lpstr>
      <vt:lpstr>Presentación de PowerPoint</vt:lpstr>
      <vt:lpstr>Presentación de PowerPoint</vt:lpstr>
      <vt:lpstr>Presentación de PowerPoint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Instrumento de evaluación</vt:lpstr>
      <vt:lpstr>Presentación de PowerPoint</vt:lpstr>
      <vt:lpstr>Presentación de PowerPoint</vt:lpstr>
      <vt:lpstr>Dra. Ruth Cotrina Alvarran. rcotrina @usat.edu.pe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Cotrina Alvarran Ruth</dc:creator>
  <cp:lastModifiedBy>Cotrina Alvarran Ruth</cp:lastModifiedBy>
  <cp:revision>53</cp:revision>
  <dcterms:created xsi:type="dcterms:W3CDTF">2026-08-12T15:22:14Z</dcterms:created>
  <dcterms:modified xsi:type="dcterms:W3CDTF">2026-08-27T20:39:49Z</dcterms:modified>
</cp:coreProperties>
</file>