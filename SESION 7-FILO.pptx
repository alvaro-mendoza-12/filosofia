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2" r:id="rId3"/>
    <p:sldId id="274" r:id="rId4"/>
    <p:sldId id="283" r:id="rId5"/>
    <p:sldId id="458" r:id="rId6"/>
    <p:sldId id="280" r:id="rId7"/>
    <p:sldId id="261" r:id="rId8"/>
    <p:sldId id="285" r:id="rId9"/>
    <p:sldId id="459" r:id="rId10"/>
    <p:sldId id="266" r:id="rId11"/>
    <p:sldId id="268" r:id="rId12"/>
    <p:sldId id="267" r:id="rId13"/>
    <p:sldId id="286" r:id="rId14"/>
    <p:sldId id="291" r:id="rId15"/>
    <p:sldId id="265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80499-1C23-41C0-BBBB-58779505D20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541D2-8C11-491F-8FDE-AA6B93F8EFD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864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8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664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99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999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632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4D4F6-CC2E-4D3C-9C42-1569578D3435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329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EA95-C02A-46A2-92FF-E0F34A1F3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DB19A2-0F74-41C6-AAAB-60F507E25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A538B-6745-4FF9-BEC7-A38055A0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27EFD-38D2-4C48-B7F8-FF47CCF5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1D1B9D-29BB-4602-B1C1-3FF03EA4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5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F04C6-19C6-4E34-B11B-063C98E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6A255-8E08-4025-87E5-BB85A99D4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EEF012-2942-4A81-BEEB-45409F97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0CF1A-FAB0-46A6-94AA-20A52848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B3460-9BEF-48AB-85C4-E56FF3E5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329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30603-60B4-483B-9210-352CA30A3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0FC4DF-4A66-4528-8C94-A0660637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D98260-07EB-43E0-A3CE-167D68DC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E437F2-39CA-4246-89A4-62D9C877F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E34C82-FA6C-4727-A413-49B86FF7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615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41E7F-66EC-4DB3-98E6-72945626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B532C0-4185-44C4-B969-4A925AF22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08367-828A-4B78-A4B7-FCCAFE44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AE32AF-41A3-45A0-98D2-290E6D77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7C77A-01D0-4F5E-BF23-1E7C289D5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41BB65-60D7-413F-88AE-1F36A6F9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042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E9D41-85A3-45A4-BCBC-44FE25F5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153E9-366F-4563-9848-D4D8057FF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44BB21-FFCF-4A63-BF2D-05D2E4FAE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38578-81DF-4D60-B899-EA7FA089C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5B1C045-2CF7-480C-BD5A-8AD087A51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525C41-5A0E-4AD0-9F29-FB07DF33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963D454-AF0F-4D27-9512-73A4CFE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5916A7-A70C-4732-B420-31466EB3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169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6032C-A6C4-421B-95E7-C49D3B4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DD51DB-491E-4448-84A9-02B5C2B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EDF3BE-E68E-4542-ABC5-5501A50C6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EF0211-1701-4C4F-8055-35C194CD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522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83BC03-3CA2-4203-9838-85B929D9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2CBDF0-D33C-45E1-AB10-25C86D87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3E7-EE46-4FFA-AC76-0A6A0A7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5707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02913-0E12-4369-8AB7-8D2CB172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A70240-A5EB-4842-A945-4724F2D38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1248D-0C57-40F9-87C8-A42C8EFBF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17A17E-14EC-4D39-A342-6F5B74AD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FB0F5-1CF3-4D77-892C-884A8869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6637D5-B633-4E2E-8A64-5EF06B3F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118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DA57-C825-4140-AA61-AAFBFCAF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6E054B-3643-4A0D-9E65-166367A2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5A6EFD-D3A2-4E6C-937B-3D2CC544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23AF8-E25E-4683-96AE-51657859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5A2F5A-C55C-408A-A50E-5C39470F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04F046-D862-42F8-B57B-9FAE391E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702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E1E74-EF85-40A5-B4F0-C55861F2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40DA13-ECE7-4FC5-8417-49DF16660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5CFA-D7F8-4457-A106-05146FF0D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DCFE2-5B9F-4680-BAB3-DC6C54C2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1CC66-84FC-43F6-89D3-7EB24C3E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829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A66FE4B-B8EF-41BE-B830-80325C9AD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71ED2-3CE2-4E2F-900E-06CD31B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B593D-8F29-48DF-8160-4AF186DF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E35FB-BFF0-450F-99BB-9A6B7E7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CF5CF-A7BE-4C5D-A710-654C32BB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227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818455" y="4348522"/>
            <a:ext cx="7848876" cy="1672766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[Nombre del Profesor ]   [ Email]         </a:t>
            </a:r>
          </a:p>
          <a:p>
            <a:r>
              <a:rPr lang="es-ES" dirty="0"/>
              <a:t> 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82"/>
            <a:ext cx="2849033" cy="3474551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647728" y="871297"/>
            <a:ext cx="7848878" cy="2494760"/>
          </a:xfrm>
          <a:prstGeom prst="rect">
            <a:avLst/>
          </a:prstGeom>
        </p:spPr>
        <p:txBody>
          <a:bodyPr/>
          <a:lstStyle>
            <a:lvl1pPr algn="ctr"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Programa de Estudios]</a:t>
            </a:r>
            <a:br>
              <a:rPr lang="es-ES" dirty="0"/>
            </a:br>
            <a:br>
              <a:rPr lang="es-ES" dirty="0"/>
            </a:br>
            <a:br>
              <a:rPr lang="es-ES" dirty="0"/>
            </a:br>
            <a:r>
              <a:rPr lang="es-ES" dirty="0"/>
              <a:t>[Nombre de la Asignatura]</a:t>
            </a:r>
            <a:endParaRPr lang="es-PE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6137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0"/>
            <a:ext cx="34843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711877" y="3610904"/>
            <a:ext cx="5928660" cy="783462"/>
          </a:xfrm>
        </p:spPr>
        <p:txBody>
          <a:bodyPr/>
          <a:lstStyle>
            <a:lvl1pPr marL="0" indent="0" algn="l">
              <a:buNone/>
              <a:defRPr sz="2400" baseline="0">
                <a:solidFill>
                  <a:schemeClr val="accent2">
                    <a:lumMod val="95000"/>
                    <a:lumOff val="5000"/>
                  </a:schemeClr>
                </a:solidFill>
                <a:latin typeface="+mj-lt"/>
                <a:cs typeface="Arial" pitchFamily="34" charset="0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[Subtitulo de la presentación]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 hasCustomPrompt="1"/>
          </p:nvPr>
        </p:nvSpPr>
        <p:spPr>
          <a:xfrm>
            <a:off x="366190" y="1628779"/>
            <a:ext cx="2849033" cy="3771045"/>
          </a:xfrm>
        </p:spPr>
        <p:txBody>
          <a:bodyPr/>
          <a:lstStyle>
            <a:lvl1pPr>
              <a:defRPr sz="1200"/>
            </a:lvl1pPr>
          </a:lstStyle>
          <a:p>
            <a:r>
              <a:rPr lang="es-PE" dirty="0"/>
              <a:t>Haga clic en el icono para insertar una imagen referente al tema</a:t>
            </a:r>
          </a:p>
        </p:txBody>
      </p:sp>
      <p:sp>
        <p:nvSpPr>
          <p:cNvPr id="17" name="Título 16"/>
          <p:cNvSpPr>
            <a:spLocks noGrp="1"/>
          </p:cNvSpPr>
          <p:nvPr>
            <p:ph type="title" hasCustomPrompt="1"/>
          </p:nvPr>
        </p:nvSpPr>
        <p:spPr>
          <a:xfrm>
            <a:off x="3850589" y="1339399"/>
            <a:ext cx="7848878" cy="1037820"/>
          </a:xfrm>
          <a:prstGeom prst="rect">
            <a:avLst/>
          </a:prstGeom>
        </p:spPr>
        <p:txBody>
          <a:bodyPr/>
          <a:lstStyle>
            <a:lvl1pPr>
              <a:defRPr sz="36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[Ingrese el título de la presentación]</a:t>
            </a:r>
            <a:endParaRPr lang="es-PE" dirty="0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1" hasCustomPrompt="1"/>
          </p:nvPr>
        </p:nvSpPr>
        <p:spPr>
          <a:xfrm>
            <a:off x="3719736" y="4669661"/>
            <a:ext cx="5013996" cy="1154255"/>
          </a:xfrm>
        </p:spPr>
        <p:txBody>
          <a:bodyPr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s-PE" dirty="0"/>
              <a:t>[Nombre del docente] , </a:t>
            </a:r>
          </a:p>
          <a:p>
            <a:pPr lvl="0"/>
            <a:r>
              <a:rPr lang="es-PE" dirty="0"/>
              <a:t>[ Email docente]</a:t>
            </a:r>
          </a:p>
        </p:txBody>
      </p:sp>
      <p:sp>
        <p:nvSpPr>
          <p:cNvPr id="15" name="Marcador de texto 14"/>
          <p:cNvSpPr>
            <a:spLocks noGrp="1"/>
          </p:cNvSpPr>
          <p:nvPr>
            <p:ph type="body" sz="quarter" idx="12" hasCustomPrompt="1"/>
          </p:nvPr>
        </p:nvSpPr>
        <p:spPr>
          <a:xfrm>
            <a:off x="9929093" y="3886200"/>
            <a:ext cx="1639522" cy="334887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accent2">
                    <a:lumMod val="95000"/>
                    <a:lumOff val="5000"/>
                  </a:schemeClr>
                </a:solidFill>
                <a:effectLst/>
                <a:latin typeface="+mj-lt"/>
              </a:defRPr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s-PE" dirty="0"/>
              <a:t>[Tema/Sesión]</a:t>
            </a:r>
          </a:p>
        </p:txBody>
      </p:sp>
      <p:sp>
        <p:nvSpPr>
          <p:cNvPr id="18" name="Marcador de texto 17"/>
          <p:cNvSpPr>
            <a:spLocks noGrp="1"/>
          </p:cNvSpPr>
          <p:nvPr>
            <p:ph type="body" sz="quarter" idx="13" hasCustomPrompt="1"/>
          </p:nvPr>
        </p:nvSpPr>
        <p:spPr>
          <a:xfrm>
            <a:off x="9936886" y="4376779"/>
            <a:ext cx="1631728" cy="935038"/>
          </a:xfrm>
        </p:spPr>
        <p:txBody>
          <a:bodyPr/>
          <a:lstStyle>
            <a:lvl1pPr marL="0" indent="0" algn="ctr">
              <a:buNone/>
              <a:defRPr sz="5400" b="1">
                <a:solidFill>
                  <a:schemeClr val="accent2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s-ES" dirty="0"/>
              <a:t>[01]</a:t>
            </a:r>
            <a:endParaRPr lang="es-PE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547230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arro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[Desarrollo]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46215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trumento de evalu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1487488" y="414801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000" b="1" baseline="0">
                <a:solidFill>
                  <a:srgbClr val="CC3300"/>
                </a:solidFill>
              </a:defRPr>
            </a:lvl1pPr>
          </a:lstStyle>
          <a:p>
            <a:r>
              <a:rPr lang="es-ES" dirty="0"/>
              <a:t>Instrumento de evaluación</a:t>
            </a:r>
            <a:endParaRPr lang="es-PE" dirty="0"/>
          </a:p>
        </p:txBody>
      </p:sp>
      <p:sp>
        <p:nvSpPr>
          <p:cNvPr id="4" name="Marcador de posición de imagen 4">
            <a:extLst>
              <a:ext uri="{FF2B5EF4-FFF2-40B4-BE49-F238E27FC236}">
                <a16:creationId xmlns:a16="http://schemas.microsoft.com/office/drawing/2014/main" id="{07749E00-FF35-2DBE-D872-AEF27500C8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8504" y="2142465"/>
            <a:ext cx="10814991" cy="395083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375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5" name="Título 1"/>
          <p:cNvSpPr>
            <a:spLocks noGrp="1"/>
          </p:cNvSpPr>
          <p:nvPr>
            <p:ph type="title" hasCustomPrompt="1"/>
          </p:nvPr>
        </p:nvSpPr>
        <p:spPr>
          <a:xfrm>
            <a:off x="623393" y="2276872"/>
            <a:ext cx="8168139" cy="1512168"/>
          </a:xfrm>
          <a:prstGeom prst="rect">
            <a:avLst/>
          </a:prstGeom>
        </p:spPr>
        <p:txBody>
          <a:bodyPr/>
          <a:lstStyle>
            <a:lvl1pPr algn="ctr">
              <a:defRPr sz="4800" b="1" baseline="0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[Título de diapositivas tamaño completo]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11671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676155"/>
            <a:ext cx="10945216" cy="427312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456871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[Cierre]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58912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eferen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719403" y="1745457"/>
            <a:ext cx="10945216" cy="413181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3" name="Título 2"/>
          <p:cNvSpPr>
            <a:spLocks noGrp="1"/>
          </p:cNvSpPr>
          <p:nvPr>
            <p:ph type="title" hasCustomPrompt="1"/>
          </p:nvPr>
        </p:nvSpPr>
        <p:spPr>
          <a:xfrm>
            <a:off x="815413" y="548680"/>
            <a:ext cx="8880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s-PE" sz="4000" b="1">
                <a:solidFill>
                  <a:srgbClr val="CC3300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[Referencias]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5C7685-DFFD-0C4B-BAD7-9B1A686A3743}"/>
              </a:ext>
            </a:extLst>
          </p:cNvPr>
          <p:cNvSpPr txBox="1"/>
          <p:nvPr userDrawn="1"/>
        </p:nvSpPr>
        <p:spPr>
          <a:xfrm>
            <a:off x="8688290" y="6551766"/>
            <a:ext cx="1717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E" sz="1050" dirty="0">
                <a:solidFill>
                  <a:schemeClr val="bg1"/>
                </a:solidFill>
              </a:rPr>
              <a:t>M. Tesen</a:t>
            </a:r>
          </a:p>
        </p:txBody>
      </p:sp>
    </p:spTree>
    <p:extLst>
      <p:ext uri="{BB962C8B-B14F-4D97-AF65-F5344CB8AC3E}">
        <p14:creationId xmlns:p14="http://schemas.microsoft.com/office/powerpoint/2010/main" val="3839452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0" y="0"/>
            <a:ext cx="12192000" cy="3933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50" dirty="0"/>
          </a:p>
        </p:txBody>
      </p:sp>
      <p:sp>
        <p:nvSpPr>
          <p:cNvPr id="18" name="Título 4"/>
          <p:cNvSpPr>
            <a:spLocks noGrp="1"/>
          </p:cNvSpPr>
          <p:nvPr>
            <p:ph type="title" hasCustomPrompt="1"/>
          </p:nvPr>
        </p:nvSpPr>
        <p:spPr>
          <a:xfrm>
            <a:off x="507141" y="4112573"/>
            <a:ext cx="11133476" cy="729037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rgbClr val="C00000"/>
                </a:solidFill>
              </a:defRPr>
            </a:lvl1pPr>
          </a:lstStyle>
          <a:p>
            <a:r>
              <a:rPr lang="es-ES" dirty="0"/>
              <a:t>[Nombre del profesor]</a:t>
            </a:r>
            <a:br>
              <a:rPr lang="es-ES" dirty="0"/>
            </a:br>
            <a:r>
              <a:rPr lang="es-ES" dirty="0"/>
              <a:t>Email:  email@usat.edu.pe</a:t>
            </a:r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50" r="76578" b="6951"/>
          <a:stretch/>
        </p:blipFill>
        <p:spPr>
          <a:xfrm>
            <a:off x="0" y="5021127"/>
            <a:ext cx="2855640" cy="15841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96"/>
          <a:stretch/>
        </p:blipFill>
        <p:spPr>
          <a:xfrm>
            <a:off x="4780235" y="1155184"/>
            <a:ext cx="2631530" cy="2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51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st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-1" y="6450826"/>
            <a:ext cx="719404" cy="407179"/>
          </a:xfrm>
          <a:prstGeom prst="rect">
            <a:avLst/>
          </a:prstGeom>
        </p:spPr>
        <p:txBody>
          <a:bodyPr/>
          <a:lstStyle>
            <a:lvl1pPr algn="ctr"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fld id="{6B0A1DF6-23E7-4DCD-B668-B4A5EC7C214C}" type="slidenum">
              <a:rPr lang="es-PE" smtClean="0"/>
              <a:pPr/>
              <a:t>‹Nº›</a:t>
            </a:fld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10" hasCustomPrompt="1"/>
          </p:nvPr>
        </p:nvSpPr>
        <p:spPr>
          <a:xfrm>
            <a:off x="719668" y="1844675"/>
            <a:ext cx="10776931" cy="410460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 dirty="0"/>
              <a:t>Lista con los temas principales de la presentación. Puede usar esta diapositiva para colocar hipervínculos a cada diapositiva que se corresponde con cada tema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670088" y="611416"/>
            <a:ext cx="8954304" cy="792088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CC3300"/>
                </a:solidFill>
              </a:defRPr>
            </a:lvl1pPr>
          </a:lstStyle>
          <a:p>
            <a:r>
              <a:rPr lang="es-PE" dirty="0"/>
              <a:t>[Lista de contenidos]</a:t>
            </a:r>
          </a:p>
        </p:txBody>
      </p:sp>
    </p:spTree>
    <p:extLst>
      <p:ext uri="{BB962C8B-B14F-4D97-AF65-F5344CB8AC3E}">
        <p14:creationId xmlns:p14="http://schemas.microsoft.com/office/powerpoint/2010/main" val="25998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3C6A18-6652-4B37-B42C-FF8316C1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41712C-092D-4D9F-AD65-67DAD0B3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C85F2D-FF6A-48C0-B338-1EE3A924A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0BCE3-0F68-4630-B7C3-4BAD275B96B0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6CC99-A9E7-45EE-B9F1-AC3F0ACC8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E0FCC2-34AA-4E0F-AFF5-2610C3743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B6611-2C95-48D4-8FFF-6FA375581E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6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14E3DC-9ED0-418E-8308-EE7F16FE0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05" r="18440" b="4762"/>
          <a:stretch/>
        </p:blipFill>
        <p:spPr>
          <a:xfrm>
            <a:off x="483954" y="1052736"/>
            <a:ext cx="3379798" cy="41228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57D20B39-4B6F-461A-BA98-15191BA5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328" y="1927916"/>
            <a:ext cx="7935027" cy="161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362075" algn="l"/>
              </a:tabLst>
            </a:pPr>
            <a:r>
              <a:rPr lang="es-PE" sz="9600" dirty="0">
                <a:solidFill>
                  <a:srgbClr val="003399"/>
                </a:solidFill>
                <a:latin typeface="Castellar" panose="020A0402060406010301" pitchFamily="18" charset="0"/>
              </a:rPr>
              <a:t>FILOSOFÍA</a:t>
            </a:r>
            <a:endParaRPr lang="es-PE" sz="9600" dirty="0">
              <a:solidFill>
                <a:srgbClr val="003399"/>
              </a:solidFill>
              <a:latin typeface="Castellar" panose="020A0402060406010301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93754C03-429E-4EAA-A864-FBAD5BCC7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2046" y="5377384"/>
            <a:ext cx="8420947" cy="855760"/>
          </a:xfrm>
        </p:spPr>
        <p:txBody>
          <a:bodyPr>
            <a:normAutofit fontScale="92500" lnSpcReduction="10000"/>
          </a:bodyPr>
          <a:lstStyle/>
          <a:p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Docente:                                                        </a:t>
            </a:r>
            <a:r>
              <a:rPr lang="es-PE" dirty="0">
                <a:solidFill>
                  <a:schemeClr val="tx1"/>
                </a:solidFill>
              </a:rPr>
              <a:t>rcotrina@usat.edu.pe</a:t>
            </a:r>
            <a:endParaRPr lang="es-PE" sz="2800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Dra. Ruth Cotrina Alvarran. </a:t>
            </a:r>
          </a:p>
        </p:txBody>
      </p:sp>
    </p:spTree>
    <p:extLst>
      <p:ext uri="{BB962C8B-B14F-4D97-AF65-F5344CB8AC3E}">
        <p14:creationId xmlns:p14="http://schemas.microsoft.com/office/powerpoint/2010/main" val="822861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6ED6C3B7-6755-430C-8B29-AF39E6ECFD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416" y="5514654"/>
            <a:ext cx="5013996" cy="730162"/>
          </a:xfrm>
        </p:spPr>
        <p:txBody>
          <a:bodyPr/>
          <a:lstStyle/>
          <a:p>
            <a:r>
              <a:rPr lang="es-ES_tradnl" sz="3200" dirty="0">
                <a:latin typeface="Agency FB" panose="020B0503020202020204" pitchFamily="34" charset="0"/>
              </a:rPr>
              <a:t>Dra. Ruth Cotrina </a:t>
            </a:r>
            <a:r>
              <a:rPr lang="es-ES_tradnl" sz="3200" dirty="0" err="1">
                <a:latin typeface="Agency FB" panose="020B0503020202020204" pitchFamily="34" charset="0"/>
              </a:rPr>
              <a:t>Alvarran</a:t>
            </a:r>
            <a:endParaRPr lang="es-ES_tradnl" sz="3200" dirty="0">
              <a:latin typeface="Agency FB" panose="020B0503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51A47A5-75CF-4FC9-8B3E-9DD315EF6C83}"/>
              </a:ext>
            </a:extLst>
          </p:cNvPr>
          <p:cNvSpPr/>
          <p:nvPr/>
        </p:nvSpPr>
        <p:spPr>
          <a:xfrm>
            <a:off x="7951979" y="4700157"/>
            <a:ext cx="2941308" cy="1544659"/>
          </a:xfrm>
          <a:prstGeom prst="ellipse">
            <a:avLst/>
          </a:prstGeom>
          <a:solidFill>
            <a:srgbClr val="FFC000"/>
          </a:solidFill>
          <a:ln>
            <a:solidFill>
              <a:srgbClr val="00B0F0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SESIÒN</a:t>
            </a:r>
          </a:p>
          <a:p>
            <a:pPr algn="ctr"/>
            <a:r>
              <a:rPr lang="es-PE" sz="2800" b="1" dirty="0">
                <a:solidFill>
                  <a:srgbClr val="00206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04DCCF-4041-2084-07E0-FC5C0A85164D}"/>
              </a:ext>
            </a:extLst>
          </p:cNvPr>
          <p:cNvSpPr/>
          <p:nvPr/>
        </p:nvSpPr>
        <p:spPr>
          <a:xfrm>
            <a:off x="4015056" y="1188347"/>
            <a:ext cx="78738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solidFill>
                  <a:srgbClr val="C00000"/>
                </a:solidFill>
              </a:rPr>
              <a:t>Estructura metafísica de la realidad.</a:t>
            </a:r>
            <a:endParaRPr lang="es-PE" sz="6000" b="1" dirty="0">
              <a:solidFill>
                <a:srgbClr val="C00000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F18322-AA74-3C6E-E217-F6D5450B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98" y="2080678"/>
            <a:ext cx="4642817" cy="2696643"/>
          </a:xfrm>
          <a:prstGeom prst="ellipse">
            <a:avLst/>
          </a:prstGeom>
          <a:ln w="190500" cap="rnd">
            <a:solidFill>
              <a:srgbClr val="92D050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41279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23EE3D7-27AF-45A0-B8BE-BA9D1E833428}"/>
              </a:ext>
            </a:extLst>
          </p:cNvPr>
          <p:cNvSpPr/>
          <p:nvPr/>
        </p:nvSpPr>
        <p:spPr>
          <a:xfrm>
            <a:off x="1413752" y="3206202"/>
            <a:ext cx="9364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3600" b="1" dirty="0">
                <a:solidFill>
                  <a:srgbClr val="C00000"/>
                </a:solidFill>
              </a:rPr>
              <a:t>RESULTADO DE APRENDIZAJE DE LA UNIDAD II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F3A49A-522A-4FDF-AF7A-3378459AA984}"/>
              </a:ext>
            </a:extLst>
          </p:cNvPr>
          <p:cNvSpPr/>
          <p:nvPr/>
        </p:nvSpPr>
        <p:spPr>
          <a:xfrm>
            <a:off x="503584" y="444107"/>
            <a:ext cx="111185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II : </a:t>
            </a:r>
          </a:p>
          <a:p>
            <a:pPr algn="ctr"/>
            <a:r>
              <a:rPr lang="es-PE" sz="4800" b="1" dirty="0">
                <a:latin typeface="Arial" panose="020B0604020202020204" pitchFamily="34" charset="0"/>
                <a:cs typeface="Arial" panose="020B0604020202020204" pitchFamily="34" charset="0"/>
              </a:rPr>
              <a:t>El problema ontológico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6C6285A-E377-8562-5463-B2699040D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3" y="4127440"/>
            <a:ext cx="11317355" cy="18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9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5AFDE77-78BC-4E41-97F2-F32809220980}"/>
              </a:ext>
            </a:extLst>
          </p:cNvPr>
          <p:cNvSpPr txBox="1"/>
          <p:nvPr/>
        </p:nvSpPr>
        <p:spPr>
          <a:xfrm>
            <a:off x="1451484" y="1056233"/>
            <a:ext cx="92890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rgbClr val="C00000"/>
                </a:solidFill>
                <a:latin typeface="+mn-lt"/>
              </a:rPr>
              <a:t>PROPÓSITO DE APRENDIZAJE DE LA SESIÓN</a:t>
            </a:r>
            <a:endParaRPr lang="es-PE" sz="4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3DCB6D-AA2C-62E4-56D7-417EA3E720DD}"/>
              </a:ext>
            </a:extLst>
          </p:cNvPr>
          <p:cNvSpPr txBox="1"/>
          <p:nvPr/>
        </p:nvSpPr>
        <p:spPr>
          <a:xfrm>
            <a:off x="1020415" y="3110446"/>
            <a:ext cx="991888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/>
              <a:t>Comprender los conceptos fundamentales de la metafísica —ente, ser, esencia, potencia, acto, sustancia y accidentes—, para interpretar la realidad de manera crítica y fundamentada desde la perspectiva filosófica sobre los seres y sus cambios.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90877166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58474BC-82C8-48CE-B0AC-AD9020CF49A1}"/>
              </a:ext>
            </a:extLst>
          </p:cNvPr>
          <p:cNvSpPr txBox="1"/>
          <p:nvPr/>
        </p:nvSpPr>
        <p:spPr>
          <a:xfrm>
            <a:off x="334213" y="369769"/>
            <a:ext cx="2510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</a:rPr>
              <a:t>INDICADOR</a:t>
            </a:r>
            <a:endParaRPr lang="es-PE" sz="3200" b="1" dirty="0">
              <a:solidFill>
                <a:srgbClr val="C0000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DB4594-9CA0-4ABA-B4BC-49B6CB942BC4}"/>
              </a:ext>
            </a:extLst>
          </p:cNvPr>
          <p:cNvSpPr txBox="1"/>
          <p:nvPr/>
        </p:nvSpPr>
        <p:spPr>
          <a:xfrm>
            <a:off x="334213" y="2851906"/>
            <a:ext cx="18101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EVIDENCIA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493A2F-BC7E-4B94-878C-57220F13E076}"/>
              </a:ext>
            </a:extLst>
          </p:cNvPr>
          <p:cNvSpPr txBox="1"/>
          <p:nvPr/>
        </p:nvSpPr>
        <p:spPr>
          <a:xfrm>
            <a:off x="278418" y="4572420"/>
            <a:ext cx="493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solidFill>
                  <a:srgbClr val="C00000"/>
                </a:solidFill>
              </a:rPr>
              <a:t>INSTRUMENTO DE EVALUACIÓN</a:t>
            </a:r>
            <a:endParaRPr lang="es-PE" sz="2800" b="1" dirty="0">
              <a:solidFill>
                <a:srgbClr val="C00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0ECFC2-C5B3-4D30-918C-587481F9FCB9}"/>
              </a:ext>
            </a:extLst>
          </p:cNvPr>
          <p:cNvSpPr txBox="1"/>
          <p:nvPr/>
        </p:nvSpPr>
        <p:spPr>
          <a:xfrm>
            <a:off x="479376" y="352599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Participación oral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B9FB30-53E3-4095-BF33-401E0A39C0D6}"/>
              </a:ext>
            </a:extLst>
          </p:cNvPr>
          <p:cNvSpPr txBox="1"/>
          <p:nvPr/>
        </p:nvSpPr>
        <p:spPr>
          <a:xfrm>
            <a:off x="487016" y="549164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Registro de observación.</a:t>
            </a:r>
            <a:endParaRPr lang="es-PE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EBB4CD-2B82-8C1D-FA2A-6F763FEAF884}"/>
              </a:ext>
            </a:extLst>
          </p:cNvPr>
          <p:cNvSpPr txBox="1"/>
          <p:nvPr/>
        </p:nvSpPr>
        <p:spPr>
          <a:xfrm>
            <a:off x="862797" y="1105408"/>
            <a:ext cx="106400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/>
              <a:t>Explica la estructura de la realidad, los principios metafísicos, los trascendentales y el problema sobre Dios.</a:t>
            </a:r>
          </a:p>
        </p:txBody>
      </p:sp>
    </p:spTree>
    <p:extLst>
      <p:ext uri="{BB962C8B-B14F-4D97-AF65-F5344CB8AC3E}">
        <p14:creationId xmlns:p14="http://schemas.microsoft.com/office/powerpoint/2010/main" val="31339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D565-9B05-5592-C240-365C4E10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7036488" cy="792088"/>
          </a:xfrm>
        </p:spPr>
        <p:txBody>
          <a:bodyPr>
            <a:normAutofit fontScale="90000"/>
          </a:bodyPr>
          <a:lstStyle/>
          <a:p>
            <a:r>
              <a:rPr lang="es-PE" sz="5400" dirty="0">
                <a:solidFill>
                  <a:srgbClr val="C00000"/>
                </a:solidFill>
              </a:rPr>
              <a:t>Contenidos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C20D105-DA1E-AF97-DD2B-629EF51B8484}"/>
              </a:ext>
            </a:extLst>
          </p:cNvPr>
          <p:cNvSpPr txBox="1"/>
          <p:nvPr/>
        </p:nvSpPr>
        <p:spPr>
          <a:xfrm>
            <a:off x="479376" y="1811732"/>
            <a:ext cx="1089098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7030A0"/>
                </a:solidFill>
              </a:rPr>
              <a:t>NATURALEZA DE LA METAFÍSICA.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7030A0"/>
                </a:solidFill>
              </a:rPr>
              <a:t>ESTRUCTURA METÁFISICA DEL ENTE: </a:t>
            </a:r>
          </a:p>
          <a:p>
            <a:endParaRPr lang="es-ES" sz="3200" b="1" dirty="0"/>
          </a:p>
          <a:p>
            <a:r>
              <a:rPr lang="es-ES" sz="3200" b="1" dirty="0"/>
              <a:t> Ente, ser, esencia, potencia acto, substancia ,accidentes, materia y forma</a:t>
            </a:r>
          </a:p>
        </p:txBody>
      </p:sp>
    </p:spTree>
    <p:extLst>
      <p:ext uri="{BB962C8B-B14F-4D97-AF65-F5344CB8AC3E}">
        <p14:creationId xmlns:p14="http://schemas.microsoft.com/office/powerpoint/2010/main" val="64046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8403F9D-BECC-47D0-8943-0ED53370DA8A}"/>
              </a:ext>
            </a:extLst>
          </p:cNvPr>
          <p:cNvSpPr txBox="1"/>
          <p:nvPr/>
        </p:nvSpPr>
        <p:spPr>
          <a:xfrm>
            <a:off x="4566539" y="159915"/>
            <a:ext cx="204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INICIO</a:t>
            </a:r>
            <a:endParaRPr lang="es-PE" sz="36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699619-041A-C698-7835-0B1B3D83BB94}"/>
              </a:ext>
            </a:extLst>
          </p:cNvPr>
          <p:cNvSpPr txBox="1"/>
          <p:nvPr/>
        </p:nvSpPr>
        <p:spPr>
          <a:xfrm>
            <a:off x="498002" y="1536174"/>
            <a:ext cx="10607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Qué hace que exista la realidad ?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Qué es la esencia? 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¿Crees que una cosa puede cambiar sin dejar de ser la misma? </a:t>
            </a:r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19540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A62749-2685-496F-9491-24ACAF78C1BF}"/>
              </a:ext>
            </a:extLst>
          </p:cNvPr>
          <p:cNvSpPr txBox="1"/>
          <p:nvPr/>
        </p:nvSpPr>
        <p:spPr>
          <a:xfrm>
            <a:off x="3839058" y="-78639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DESARROLLO</a:t>
            </a:r>
            <a:endParaRPr lang="es-PE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66A3B8-F999-4DB0-639C-FBF40C6C1A58}"/>
              </a:ext>
            </a:extLst>
          </p:cNvPr>
          <p:cNvSpPr txBox="1"/>
          <p:nvPr/>
        </p:nvSpPr>
        <p:spPr>
          <a:xfrm>
            <a:off x="333423" y="506136"/>
            <a:ext cx="1185857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la metafísica y cuál es el objeto de la metafísica.?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Què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es el ente.? Dar ejemplo.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Explique en qué consiste el ente analógico.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Què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es el ser.?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el existir.?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la esencia?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esencia tienen los siguientes entes: Juana, Pedro y Lucero, perro, jirafa, naranja, eucalipto, borrador, plumón?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la potencia  y el acto? Dar un ejemplo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la substancia.? Dar ejemplos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Cuáles son las características de la substancia.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son los accidentes.? Dar ejemplos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Diferencias entre substancia y accidentes.</a:t>
            </a:r>
          </a:p>
          <a:p>
            <a:pPr marL="342900" indent="-342900">
              <a:buFont typeface="+mj-lt"/>
              <a:buAutoNum type="arabicPeriod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Qué es la materia y la forma.?</a:t>
            </a:r>
          </a:p>
        </p:txBody>
      </p:sp>
    </p:spTree>
    <p:extLst>
      <p:ext uri="{BB962C8B-B14F-4D97-AF65-F5344CB8AC3E}">
        <p14:creationId xmlns:p14="http://schemas.microsoft.com/office/powerpoint/2010/main" val="3668946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C14C9-00E9-42A9-9857-D5698C05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11" y="387119"/>
            <a:ext cx="8168139" cy="571505"/>
          </a:xfrm>
        </p:spPr>
        <p:txBody>
          <a:bodyPr>
            <a:noAutofit/>
          </a:bodyPr>
          <a:lstStyle/>
          <a:p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TRABAJO COLABORATIVO</a:t>
            </a:r>
            <a:endParaRPr lang="es-P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A5000FC-7ADA-0706-5179-FA5EA444B601}"/>
              </a:ext>
            </a:extLst>
          </p:cNvPr>
          <p:cNvSpPr txBox="1"/>
          <p:nvPr/>
        </p:nvSpPr>
        <p:spPr>
          <a:xfrm>
            <a:off x="921697" y="3242594"/>
            <a:ext cx="8957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………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64CD260-0B98-53D9-E489-BE41B5DCC53D}"/>
              </a:ext>
            </a:extLst>
          </p:cNvPr>
          <p:cNvSpPr txBox="1"/>
          <p:nvPr/>
        </p:nvSpPr>
        <p:spPr>
          <a:xfrm>
            <a:off x="530087" y="1472879"/>
            <a:ext cx="110523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3200" b="1" dirty="0"/>
              <a:t>Un feto humano, ¿Es  persona en potencia o en acto? Por </a:t>
            </a:r>
            <a:r>
              <a:rPr lang="es-ES" sz="3200" b="1" dirty="0" err="1"/>
              <a:t>què</a:t>
            </a:r>
            <a:r>
              <a:rPr lang="es-ES" sz="3200" b="1" dirty="0"/>
              <a:t> ?</a:t>
            </a:r>
          </a:p>
          <a:p>
            <a:pPr marL="342900" indent="-342900">
              <a:buFont typeface="+mj-lt"/>
              <a:buAutoNum type="arabicPeriod"/>
            </a:pPr>
            <a:endParaRPr lang="es-ES" sz="3200" b="1" dirty="0"/>
          </a:p>
          <a:p>
            <a:pPr marL="342900" indent="-342900">
              <a:buFont typeface="+mj-lt"/>
              <a:buAutoNum type="arabicPeriod"/>
            </a:pPr>
            <a:r>
              <a:rPr lang="es-ES" sz="3200" b="1" dirty="0"/>
              <a:t>Qué cambios se produce en cada ente.? </a:t>
            </a:r>
          </a:p>
          <a:p>
            <a:endParaRPr lang="es-ES" sz="3200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sz="3200" b="1" dirty="0"/>
              <a:t>Teresa está muerta………………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sz="3200" b="1" dirty="0"/>
              <a:t>Lucho es transgénero…………..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sz="3200" b="1" dirty="0"/>
              <a:t>Priscila se cortó el cabello……………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s-ES" sz="3200" b="1" dirty="0"/>
              <a:t>La casa de </a:t>
            </a:r>
            <a:r>
              <a:rPr lang="es-ES" sz="3200" b="1" dirty="0" err="1"/>
              <a:t>carlos</a:t>
            </a:r>
            <a:r>
              <a:rPr lang="es-ES" sz="3200" b="1" dirty="0"/>
              <a:t> se incendió …………</a:t>
            </a:r>
          </a:p>
        </p:txBody>
      </p:sp>
    </p:spTree>
    <p:extLst>
      <p:ext uri="{BB962C8B-B14F-4D97-AF65-F5344CB8AC3E}">
        <p14:creationId xmlns:p14="http://schemas.microsoft.com/office/powerpoint/2010/main" val="426380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D57183A-DFE3-4651-88C7-1D6E9381B9A9}"/>
              </a:ext>
            </a:extLst>
          </p:cNvPr>
          <p:cNvSpPr txBox="1"/>
          <p:nvPr/>
        </p:nvSpPr>
        <p:spPr>
          <a:xfrm>
            <a:off x="4682344" y="132116"/>
            <a:ext cx="2555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b="1" dirty="0">
                <a:solidFill>
                  <a:srgbClr val="C00000"/>
                </a:solidFill>
                <a:latin typeface="Georgia" panose="02040502050405020303" pitchFamily="18" charset="0"/>
              </a:rPr>
              <a:t>CIERRE</a:t>
            </a:r>
            <a:endParaRPr lang="es-PE" sz="44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862A51-34AE-4243-E537-C71A49B7ED99}"/>
              </a:ext>
            </a:extLst>
          </p:cNvPr>
          <p:cNvSpPr txBox="1"/>
          <p:nvPr/>
        </p:nvSpPr>
        <p:spPr>
          <a:xfrm>
            <a:off x="768625" y="1232862"/>
            <a:ext cx="91572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¿Qué estudia la metafísica?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¿Qué es el ente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¿Que es la potencia y acto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¿Es lo mismo esencia que ser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Qué es la substancia?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Qué son los accidentes?</a:t>
            </a:r>
          </a:p>
        </p:txBody>
      </p:sp>
    </p:spTree>
    <p:extLst>
      <p:ext uri="{BB962C8B-B14F-4D97-AF65-F5344CB8AC3E}">
        <p14:creationId xmlns:p14="http://schemas.microsoft.com/office/powerpoint/2010/main" val="184033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6335AF4-AC71-4416-93A9-B2812A4E17A9}"/>
              </a:ext>
            </a:extLst>
          </p:cNvPr>
          <p:cNvSpPr/>
          <p:nvPr/>
        </p:nvSpPr>
        <p:spPr>
          <a:xfrm>
            <a:off x="3460116" y="397401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32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3E627C-A689-C37F-E327-21DB6B9E0285}"/>
              </a:ext>
            </a:extLst>
          </p:cNvPr>
          <p:cNvSpPr txBox="1"/>
          <p:nvPr/>
        </p:nvSpPr>
        <p:spPr>
          <a:xfrm>
            <a:off x="377686" y="982176"/>
            <a:ext cx="1119808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Metafísica : ciencia de los primeros principios y de las primeras causas.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La metafísica es importante:  porque permite ir a las causas últimas al sentido última de la existencia.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Ente: es lo que es, lo que Existe.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Ser :primera perfección del 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Existir: es la  afirmación del 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Potencia :es real, pero no actual.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Acto: es algo que ya es, es la perfección.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Esencia: Define el modo de ser.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Substancia:  subsiste en sí misma. Tiene autonomía en el 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Accidentes: Lo que sobreviene, lo que se añade a otra cosa. No tiene ser por si o en si misma. Participa del ser de la substancia.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Materia: Pura potencia pasiva. Es indeterminada.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Forma: Determina a la materia.</a:t>
            </a:r>
          </a:p>
        </p:txBody>
      </p:sp>
    </p:spTree>
    <p:extLst>
      <p:ext uri="{BB962C8B-B14F-4D97-AF65-F5344CB8AC3E}">
        <p14:creationId xmlns:p14="http://schemas.microsoft.com/office/powerpoint/2010/main" val="48580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A6A73D5-C0FA-4D7D-BC24-0477DDD4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3" y="655385"/>
            <a:ext cx="8168139" cy="720080"/>
          </a:xfrm>
          <a:prstGeom prst="rect">
            <a:avLst/>
          </a:prstGeom>
        </p:spPr>
        <p:txBody>
          <a:bodyPr/>
          <a:lstStyle/>
          <a:p>
            <a:r>
              <a:rPr lang="es-ES" sz="4400" dirty="0">
                <a:solidFill>
                  <a:srgbClr val="C00000"/>
                </a:solidFill>
                <a:latin typeface="Georgia" panose="02040502050405020303" pitchFamily="18" charset="0"/>
              </a:rPr>
              <a:t>Instrumento de evaluación</a:t>
            </a:r>
            <a:endParaRPr lang="es-PE" sz="44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61999A-9EDB-4EE9-B1BE-681D4359BD98}"/>
              </a:ext>
            </a:extLst>
          </p:cNvPr>
          <p:cNvSpPr txBox="1"/>
          <p:nvPr/>
        </p:nvSpPr>
        <p:spPr>
          <a:xfrm>
            <a:off x="2666282" y="2492896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R</a:t>
            </a:r>
            <a:r>
              <a:rPr lang="es-PE" sz="4000" dirty="0" err="1"/>
              <a:t>egistro</a:t>
            </a:r>
            <a:r>
              <a:rPr lang="es-PE" sz="4000" dirty="0"/>
              <a:t> de observación</a:t>
            </a:r>
          </a:p>
        </p:txBody>
      </p:sp>
    </p:spTree>
    <p:extLst>
      <p:ext uri="{BB962C8B-B14F-4D97-AF65-F5344CB8AC3E}">
        <p14:creationId xmlns:p14="http://schemas.microsoft.com/office/powerpoint/2010/main" val="20328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10296D2-54FF-1D78-977F-CE7E7DDD3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B0A1DF6-23E7-4DCD-B668-B4A5EC7C214C}" type="slidenum">
              <a:rPr lang="es-PE" smtClean="0"/>
              <a:pPr/>
              <a:t>13</a:t>
            </a:fld>
            <a:endParaRPr lang="es-PE" dirty="0"/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F7F23FA5-794F-5192-5248-1B36FCF11E4E}"/>
              </a:ext>
            </a:extLst>
          </p:cNvPr>
          <p:cNvSpPr/>
          <p:nvPr/>
        </p:nvSpPr>
        <p:spPr>
          <a:xfrm>
            <a:off x="2901054" y="348099"/>
            <a:ext cx="63898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ESTUDIO AUTÓNOMO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447550-A509-5769-704A-B68867C785E2}"/>
              </a:ext>
            </a:extLst>
          </p:cNvPr>
          <p:cNvSpPr txBox="1"/>
          <p:nvPr/>
        </p:nvSpPr>
        <p:spPr>
          <a:xfrm>
            <a:off x="719403" y="1758868"/>
            <a:ext cx="1047868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dirty="0"/>
              <a:t>Para la próxima clase leer la separata:</a:t>
            </a:r>
          </a:p>
          <a:p>
            <a:pPr algn="ctr"/>
            <a:endParaRPr lang="es-ES" sz="4400" b="1" dirty="0"/>
          </a:p>
          <a:p>
            <a:pPr algn="ctr"/>
            <a:r>
              <a:rPr lang="es-ES" sz="4400" b="1" dirty="0">
                <a:solidFill>
                  <a:srgbClr val="C00000"/>
                </a:solidFill>
              </a:rPr>
              <a:t>Los principios metafísicos, los transcendentales  y  causas del  ente</a:t>
            </a:r>
            <a:r>
              <a:rPr lang="es-ES" sz="4400" b="1" dirty="0"/>
              <a:t>.</a:t>
            </a:r>
          </a:p>
          <a:p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11164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C5EC2A2-DBBB-44C0-8803-CAC73247DC1D}"/>
              </a:ext>
            </a:extLst>
          </p:cNvPr>
          <p:cNvSpPr txBox="1">
            <a:spLocks/>
          </p:cNvSpPr>
          <p:nvPr/>
        </p:nvSpPr>
        <p:spPr>
          <a:xfrm>
            <a:off x="3728070" y="261519"/>
            <a:ext cx="4176464" cy="70788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342892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685783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028675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371566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s-PE" sz="4000" b="1" dirty="0">
                <a:solidFill>
                  <a:srgbClr val="C00000"/>
                </a:solidFill>
                <a:latin typeface="Georgia" panose="02040502050405020303" pitchFamily="18" charset="0"/>
              </a:rPr>
              <a:t>Referencias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DD9AF8-33DE-BFCF-4DD4-AFF425F94C5C}"/>
              </a:ext>
            </a:extLst>
          </p:cNvPr>
          <p:cNvSpPr txBox="1"/>
          <p:nvPr/>
        </p:nvSpPr>
        <p:spPr>
          <a:xfrm>
            <a:off x="1331843" y="2255031"/>
            <a:ext cx="95283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Alvira, T. (2001) Metafísica. Pamplona: EUNSA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/>
              <a:t>De Torre, J. (1990). Filosofía Cristiana. Madrid: Editorial Palabra. </a:t>
            </a:r>
          </a:p>
        </p:txBody>
      </p:sp>
    </p:spTree>
    <p:extLst>
      <p:ext uri="{BB962C8B-B14F-4D97-AF65-F5344CB8AC3E}">
        <p14:creationId xmlns:p14="http://schemas.microsoft.com/office/powerpoint/2010/main" val="4254422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0">
            <a:extLst>
              <a:ext uri="{FF2B5EF4-FFF2-40B4-BE49-F238E27FC236}">
                <a16:creationId xmlns:a16="http://schemas.microsoft.com/office/drawing/2014/main" id="{0CCA811A-31B1-4E6F-8129-5811D2E7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84984"/>
            <a:ext cx="11134725" cy="1620043"/>
          </a:xfrm>
        </p:spPr>
        <p:txBody>
          <a:bodyPr/>
          <a:lstStyle/>
          <a:p>
            <a:pPr algn="ctr"/>
            <a:r>
              <a:rPr lang="es-PE" sz="2800" b="1" dirty="0">
                <a:solidFill>
                  <a:srgbClr val="002060"/>
                </a:solidFill>
                <a:latin typeface="Agency FB" panose="020B0503020202020204" pitchFamily="34" charset="0"/>
                <a:cs typeface="Aharoni" panose="02010803020104030203" pitchFamily="2" charset="-79"/>
              </a:rPr>
              <a:t>Dra. Ruth Cotrina Alvarran</a:t>
            </a:r>
            <a:r>
              <a:rPr lang="es-PE" sz="2000" dirty="0">
                <a:solidFill>
                  <a:schemeClr val="accent2"/>
                </a:solidFill>
                <a:latin typeface="Agency FB" panose="020B0503020202020204" pitchFamily="34" charset="0"/>
              </a:rPr>
              <a:t>.</a:t>
            </a:r>
          </a:p>
          <a:p>
            <a:pPr algn="ctr"/>
            <a:r>
              <a:rPr lang="es-PE" sz="2400" b="1" i="1" dirty="0" err="1">
                <a:latin typeface="Arial Narrow" panose="020B0606020202030204" pitchFamily="34" charset="0"/>
              </a:rPr>
              <a:t>rcotrina</a:t>
            </a:r>
            <a:r>
              <a:rPr lang="es-PE" sz="2400" b="1" i="1" dirty="0">
                <a:latin typeface="Arial Narrow" panose="020B0606020202030204" pitchFamily="34" charset="0"/>
              </a:rPr>
              <a:t> @usat.edu.pe</a:t>
            </a:r>
          </a:p>
        </p:txBody>
      </p:sp>
    </p:spTree>
    <p:extLst>
      <p:ext uri="{BB962C8B-B14F-4D97-AF65-F5344CB8AC3E}">
        <p14:creationId xmlns:p14="http://schemas.microsoft.com/office/powerpoint/2010/main" val="137489407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600</Words>
  <Application>Microsoft Office PowerPoint</Application>
  <PresentationFormat>Panorámica</PresentationFormat>
  <Paragraphs>114</Paragraphs>
  <Slides>15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7" baseType="lpstr">
      <vt:lpstr>Agency FB</vt:lpstr>
      <vt:lpstr>Aharoni</vt:lpstr>
      <vt:lpstr>Arial</vt:lpstr>
      <vt:lpstr>Arial Black</vt:lpstr>
      <vt:lpstr>Arial Narrow</vt:lpstr>
      <vt:lpstr>Calibri</vt:lpstr>
      <vt:lpstr>Calibri Light</vt:lpstr>
      <vt:lpstr>Castellar</vt:lpstr>
      <vt:lpstr>Georgia</vt:lpstr>
      <vt:lpstr>Times New Roman</vt:lpstr>
      <vt:lpstr>Wingdings</vt:lpstr>
      <vt:lpstr>Tema de Office</vt:lpstr>
      <vt:lpstr>FILOSOFÍA</vt:lpstr>
      <vt:lpstr>Presentación de PowerPoint</vt:lpstr>
      <vt:lpstr>Presentación de PowerPoint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TRABAJO COLABORATIVO</vt:lpstr>
      <vt:lpstr>Presentación de PowerPoint</vt:lpstr>
      <vt:lpstr>Presentación de PowerPoint</vt:lpstr>
      <vt:lpstr>Instrumento de evaluación</vt:lpstr>
      <vt:lpstr>Presentación de PowerPoint</vt:lpstr>
      <vt:lpstr>Presentación de PowerPoint</vt:lpstr>
      <vt:lpstr>Dra. Ruth Cotrina Alvarran. rcotrina @usat.edu.pe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Cotrina Alvarran Ruth</dc:creator>
  <cp:lastModifiedBy>Aula</cp:lastModifiedBy>
  <cp:revision>105</cp:revision>
  <dcterms:created xsi:type="dcterms:W3CDTF">2026-08-12T15:22:14Z</dcterms:created>
  <dcterms:modified xsi:type="dcterms:W3CDTF">2026-09-28T15:11:24Z</dcterms:modified>
</cp:coreProperties>
</file>